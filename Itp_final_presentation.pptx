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mo Bold" panose="020B0704020202020204" pitchFamily="34" charset="0"/>
      <p:regular r:id="rId12"/>
      <p:bold r:id="rId13"/>
    </p:embeddedFont>
    <p:embeddedFont>
      <p:font typeface="Inter" panose="02000503000000020004" pitchFamily="2" charset="0"/>
      <p:regular r:id="rId14"/>
    </p:embeddedFont>
    <p:embeddedFont>
      <p:font typeface="Inter Bold" panose="02000503000000020004" pitchFamily="2" charset="0"/>
      <p:regular r:id="rId15"/>
      <p:bold r:id="rId16"/>
    </p:embeddedFont>
    <p:embeddedFont>
      <p:font typeface="Inter Italics" panose="02000503000000020004" pitchFamily="2" charset="0"/>
      <p:regular r:id="rId17"/>
      <p:italic r:id="rId18"/>
    </p:embeddedFont>
    <p:embeddedFont>
      <p:font typeface="Lora Italics" pitchFamily="2"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0" d="100"/>
          <a:sy n="80" d="100"/>
        </p:scale>
        <p:origin x="46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857250" y="3164800"/>
            <a:ext cx="16573500" cy="554307"/>
          </a:xfrm>
          <a:prstGeom prst="rect">
            <a:avLst/>
          </a:prstGeom>
        </p:spPr>
        <p:txBody>
          <a:bodyPr lIns="0" tIns="0" rIns="0" bIns="0" rtlCol="0" anchor="t">
            <a:spAutoFit/>
          </a:bodyPr>
          <a:lstStyle/>
          <a:p>
            <a:pPr algn="ctr">
              <a:lnSpc>
                <a:spcPts val="3887"/>
              </a:lnSpc>
            </a:pPr>
            <a:r>
              <a:rPr lang="en-US" sz="2025" b="1">
                <a:solidFill>
                  <a:srgbClr val="3B82F6"/>
                </a:solidFill>
                <a:latin typeface="Inter Bold"/>
                <a:ea typeface="Inter Bold"/>
                <a:cs typeface="Inter Bold"/>
                <a:sym typeface="Inter Bold"/>
              </a:rPr>
              <a:t>FINAL PROJECT DEFENSE</a:t>
            </a:r>
          </a:p>
        </p:txBody>
      </p:sp>
      <p:sp>
        <p:nvSpPr>
          <p:cNvPr id="3" name="TextBox 3"/>
          <p:cNvSpPr txBox="1"/>
          <p:nvPr/>
        </p:nvSpPr>
        <p:spPr>
          <a:xfrm>
            <a:off x="442912" y="3890558"/>
            <a:ext cx="17402175" cy="1343406"/>
          </a:xfrm>
          <a:prstGeom prst="rect">
            <a:avLst/>
          </a:prstGeom>
        </p:spPr>
        <p:txBody>
          <a:bodyPr lIns="0" tIns="0" rIns="0" bIns="0" rtlCol="0" anchor="t">
            <a:spAutoFit/>
          </a:bodyPr>
          <a:lstStyle/>
          <a:p>
            <a:pPr algn="ctr">
              <a:lnSpc>
                <a:spcPts val="10692"/>
              </a:lnSpc>
            </a:pPr>
            <a:r>
              <a:rPr lang="en-US" sz="8100" b="1">
                <a:solidFill>
                  <a:srgbClr val="FFFFFF"/>
                </a:solidFill>
                <a:latin typeface="Arimo Bold"/>
                <a:ea typeface="Arimo Bold"/>
                <a:cs typeface="Arimo Bold"/>
                <a:sym typeface="Arimo Bold"/>
              </a:rPr>
              <a:t>Library Management</a:t>
            </a:r>
          </a:p>
        </p:txBody>
      </p:sp>
      <p:grpSp>
        <p:nvGrpSpPr>
          <p:cNvPr id="4" name="Group 4"/>
          <p:cNvGrpSpPr/>
          <p:nvPr/>
        </p:nvGrpSpPr>
        <p:grpSpPr>
          <a:xfrm>
            <a:off x="8572500" y="5519714"/>
            <a:ext cx="1143000" cy="57150"/>
            <a:chOff x="0" y="0"/>
            <a:chExt cx="1524000" cy="76200"/>
          </a:xfrm>
        </p:grpSpPr>
        <p:sp>
          <p:nvSpPr>
            <p:cNvPr id="5" name="Freeform 5"/>
            <p:cNvSpPr/>
            <p:nvPr/>
          </p:nvSpPr>
          <p:spPr>
            <a:xfrm>
              <a:off x="0" y="0"/>
              <a:ext cx="1524000" cy="76200"/>
            </a:xfrm>
            <a:custGeom>
              <a:avLst/>
              <a:gdLst/>
              <a:ahLst/>
              <a:cxnLst/>
              <a:rect l="l" t="t" r="r" b="b"/>
              <a:pathLst>
                <a:path w="1524000" h="76200">
                  <a:moveTo>
                    <a:pt x="0" y="0"/>
                  </a:moveTo>
                  <a:lnTo>
                    <a:pt x="1524000" y="0"/>
                  </a:lnTo>
                  <a:lnTo>
                    <a:pt x="1524000" y="76200"/>
                  </a:lnTo>
                  <a:lnTo>
                    <a:pt x="0" y="76200"/>
                  </a:lnTo>
                  <a:close/>
                </a:path>
              </a:pathLst>
            </a:custGeom>
            <a:solidFill>
              <a:srgbClr val="3B82F6"/>
            </a:solidFill>
          </p:spPr>
          <p:txBody>
            <a:bodyPr/>
            <a:lstStyle/>
            <a:p>
              <a:endParaRPr lang="ru-KZ"/>
            </a:p>
          </p:txBody>
        </p:sp>
      </p:grpSp>
      <p:sp>
        <p:nvSpPr>
          <p:cNvPr id="6" name="TextBox 6"/>
          <p:cNvSpPr txBox="1"/>
          <p:nvPr/>
        </p:nvSpPr>
        <p:spPr>
          <a:xfrm>
            <a:off x="3429000" y="5824514"/>
            <a:ext cx="11430000" cy="1154811"/>
          </a:xfrm>
          <a:prstGeom prst="rect">
            <a:avLst/>
          </a:prstGeom>
        </p:spPr>
        <p:txBody>
          <a:bodyPr lIns="0" tIns="0" rIns="0" bIns="0" rtlCol="0" anchor="t">
            <a:spAutoFit/>
          </a:bodyPr>
          <a:lstStyle/>
          <a:p>
            <a:pPr algn="ctr">
              <a:lnSpc>
                <a:spcPts val="4752"/>
              </a:lnSpc>
            </a:pPr>
            <a:r>
              <a:rPr lang="en-US" sz="2475">
                <a:solidFill>
                  <a:srgbClr val="FFFFFF"/>
                </a:solidFill>
                <a:latin typeface="Inter"/>
                <a:ea typeface="Inter"/>
                <a:cs typeface="Inter"/>
                <a:sym typeface="Inter"/>
              </a:rPr>
              <a:t>Comprehensive implementation of Case 6: Book tracking, user history, and algorithmic optimizations.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7250" y="857250"/>
            <a:ext cx="85725" cy="642938"/>
            <a:chOff x="0" y="0"/>
            <a:chExt cx="114300" cy="857250"/>
          </a:xfrm>
        </p:grpSpPr>
        <p:sp>
          <p:nvSpPr>
            <p:cNvPr id="3" name="Freeform 3"/>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sp>
        <p:nvSpPr>
          <p:cNvPr id="4" name="TextBox 4"/>
          <p:cNvSpPr txBox="1"/>
          <p:nvPr/>
        </p:nvSpPr>
        <p:spPr>
          <a:xfrm>
            <a:off x="1143000" y="838200"/>
            <a:ext cx="6229722" cy="628650"/>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PROBLEM DESCRIPTION</a:t>
            </a:r>
          </a:p>
        </p:txBody>
      </p:sp>
      <p:grpSp>
        <p:nvGrpSpPr>
          <p:cNvPr id="5" name="Group 5"/>
          <p:cNvGrpSpPr/>
          <p:nvPr/>
        </p:nvGrpSpPr>
        <p:grpSpPr>
          <a:xfrm>
            <a:off x="857250" y="2861962"/>
            <a:ext cx="8401050" cy="4563075"/>
            <a:chOff x="0" y="0"/>
            <a:chExt cx="11201400" cy="6084100"/>
          </a:xfrm>
        </p:grpSpPr>
        <p:grpSp>
          <p:nvGrpSpPr>
            <p:cNvPr id="6" name="Group 6"/>
            <p:cNvGrpSpPr/>
            <p:nvPr/>
          </p:nvGrpSpPr>
          <p:grpSpPr>
            <a:xfrm>
              <a:off x="0" y="2259203"/>
              <a:ext cx="304800" cy="361950"/>
              <a:chOff x="0" y="0"/>
              <a:chExt cx="304800" cy="361950"/>
            </a:xfrm>
          </p:grpSpPr>
          <p:sp>
            <p:nvSpPr>
              <p:cNvPr id="7" name="Freeform 7"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nvGrpSpPr>
            <p:cNvPr id="8" name="Group 8"/>
            <p:cNvGrpSpPr/>
            <p:nvPr/>
          </p:nvGrpSpPr>
          <p:grpSpPr>
            <a:xfrm>
              <a:off x="0" y="3642119"/>
              <a:ext cx="304800" cy="361950"/>
              <a:chOff x="0" y="0"/>
              <a:chExt cx="304800" cy="361950"/>
            </a:xfrm>
          </p:grpSpPr>
          <p:sp>
            <p:nvSpPr>
              <p:cNvPr id="9" name="Freeform 9"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nvGrpSpPr>
            <p:cNvPr id="10" name="Group 10"/>
            <p:cNvGrpSpPr/>
            <p:nvPr/>
          </p:nvGrpSpPr>
          <p:grpSpPr>
            <a:xfrm>
              <a:off x="0" y="5025034"/>
              <a:ext cx="304800" cy="361950"/>
              <a:chOff x="0" y="0"/>
              <a:chExt cx="304800" cy="361950"/>
            </a:xfrm>
          </p:grpSpPr>
          <p:sp>
            <p:nvSpPr>
              <p:cNvPr id="11" name="Freeform 11"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sp>
          <p:nvSpPr>
            <p:cNvPr id="12" name="TextBox 12"/>
            <p:cNvSpPr txBox="1"/>
            <p:nvPr/>
          </p:nvSpPr>
          <p:spPr>
            <a:xfrm>
              <a:off x="0" y="-9525"/>
              <a:ext cx="11201400" cy="447675"/>
            </a:xfrm>
            <a:prstGeom prst="rect">
              <a:avLst/>
            </a:prstGeom>
          </p:spPr>
          <p:txBody>
            <a:bodyPr lIns="0" tIns="0" rIns="0" bIns="0" rtlCol="0" anchor="t">
              <a:spAutoFit/>
            </a:bodyPr>
            <a:lstStyle/>
            <a:p>
              <a:pPr algn="l">
                <a:lnSpc>
                  <a:spcPts val="2527"/>
                </a:lnSpc>
              </a:pPr>
              <a:r>
                <a:rPr lang="en-US" sz="2106" b="1">
                  <a:solidFill>
                    <a:srgbClr val="1E293B"/>
                  </a:solidFill>
                  <a:latin typeface="Arimo Bold"/>
                  <a:ea typeface="Arimo Bold"/>
                  <a:cs typeface="Arimo Bold"/>
                  <a:sym typeface="Arimo Bold"/>
                </a:rPr>
                <a:t>Case 6: Managing Media Assets</a:t>
              </a:r>
            </a:p>
          </p:txBody>
        </p:sp>
        <p:sp>
          <p:nvSpPr>
            <p:cNvPr id="13" name="TextBox 13"/>
            <p:cNvSpPr txBox="1"/>
            <p:nvPr/>
          </p:nvSpPr>
          <p:spPr>
            <a:xfrm>
              <a:off x="0" y="638175"/>
              <a:ext cx="10668000" cy="1240041"/>
            </a:xfrm>
            <a:prstGeom prst="rect">
              <a:avLst/>
            </a:prstGeom>
          </p:spPr>
          <p:txBody>
            <a:bodyPr lIns="0" tIns="0" rIns="0" bIns="0" rtlCol="0" anchor="t">
              <a:spAutoFit/>
            </a:bodyPr>
            <a:lstStyle/>
            <a:p>
              <a:pPr algn="l">
                <a:lnSpc>
                  <a:spcPts val="3887"/>
                </a:lnSpc>
              </a:pPr>
              <a:r>
                <a:rPr lang="en-US" sz="2025">
                  <a:solidFill>
                    <a:srgbClr val="475569"/>
                  </a:solidFill>
                  <a:latin typeface="Inter"/>
                  <a:ea typeface="Inter"/>
                  <a:cs typeface="Inter"/>
                  <a:sym typeface="Inter"/>
                </a:rPr>
                <a:t>Digital library systems require precise synchronization between physical inventory and user transaction logs.</a:t>
              </a:r>
            </a:p>
          </p:txBody>
        </p:sp>
        <p:sp>
          <p:nvSpPr>
            <p:cNvPr id="14" name="TextBox 14"/>
            <p:cNvSpPr txBox="1"/>
            <p:nvPr/>
          </p:nvSpPr>
          <p:spPr>
            <a:xfrm>
              <a:off x="666750" y="2078228"/>
              <a:ext cx="10001250" cy="124004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Availability Logic:</a:t>
              </a:r>
              <a:r>
                <a:rPr lang="en-US" sz="2025">
                  <a:solidFill>
                    <a:srgbClr val="475569"/>
                  </a:solidFill>
                  <a:latin typeface="Inter"/>
                  <a:ea typeface="Inter"/>
                  <a:cs typeface="Inter"/>
                  <a:sym typeface="Inter"/>
                </a:rPr>
                <a:t> Prevent borrowing of items already checked out by others.</a:t>
              </a:r>
            </a:p>
          </p:txBody>
        </p:sp>
        <p:sp>
          <p:nvSpPr>
            <p:cNvPr id="15" name="TextBox 15"/>
            <p:cNvSpPr txBox="1"/>
            <p:nvPr/>
          </p:nvSpPr>
          <p:spPr>
            <a:xfrm>
              <a:off x="666750" y="3461144"/>
              <a:ext cx="10001250" cy="124004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Entity Integrity:</a:t>
              </a:r>
              <a:r>
                <a:rPr lang="en-US" sz="2025">
                  <a:solidFill>
                    <a:srgbClr val="475569"/>
                  </a:solidFill>
                  <a:latin typeface="Inter"/>
                  <a:ea typeface="Inter"/>
                  <a:cs typeface="Inter"/>
                  <a:sym typeface="Inter"/>
                </a:rPr>
                <a:t> Users are prohibited from borrowing duplicate copies of the same book.</a:t>
              </a:r>
            </a:p>
          </p:txBody>
        </p:sp>
        <p:sp>
          <p:nvSpPr>
            <p:cNvPr id="16" name="TextBox 16"/>
            <p:cNvSpPr txBox="1"/>
            <p:nvPr/>
          </p:nvSpPr>
          <p:spPr>
            <a:xfrm>
              <a:off x="666750" y="4844059"/>
              <a:ext cx="10001250" cy="124004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Data Lifecycle:</a:t>
              </a:r>
              <a:r>
                <a:rPr lang="en-US" sz="2025">
                  <a:solidFill>
                    <a:srgbClr val="475569"/>
                  </a:solidFill>
                  <a:latin typeface="Inter"/>
                  <a:ea typeface="Inter"/>
                  <a:cs typeface="Inter"/>
                  <a:sym typeface="Inter"/>
                </a:rPr>
                <a:t> Maintain persistent records of all past borrow/return events.</a:t>
              </a:r>
            </a:p>
          </p:txBody>
        </p:sp>
      </p:grpSp>
      <p:sp>
        <p:nvSpPr>
          <p:cNvPr id="17" name="Freeform 17"/>
          <p:cNvSpPr/>
          <p:nvPr/>
        </p:nvSpPr>
        <p:spPr>
          <a:xfrm>
            <a:off x="10798507" y="2438570"/>
            <a:ext cx="6661280" cy="5409861"/>
          </a:xfrm>
          <a:custGeom>
            <a:avLst/>
            <a:gdLst/>
            <a:ahLst/>
            <a:cxnLst/>
            <a:rect l="l" t="t" r="r" b="b"/>
            <a:pathLst>
              <a:path w="6661280" h="5409861">
                <a:moveTo>
                  <a:pt x="0" y="0"/>
                </a:moveTo>
                <a:lnTo>
                  <a:pt x="6661280" y="0"/>
                </a:lnTo>
                <a:lnTo>
                  <a:pt x="6661280" y="5409860"/>
                </a:lnTo>
                <a:lnTo>
                  <a:pt x="0" y="5409860"/>
                </a:lnTo>
                <a:lnTo>
                  <a:pt x="0" y="0"/>
                </a:lnTo>
                <a:close/>
              </a:path>
            </a:pathLst>
          </a:custGeom>
          <a:blipFill>
            <a:blip r:embed="rId4"/>
            <a:stretch>
              <a:fillRect l="-6237" r="-15472"/>
            </a:stretch>
          </a:blipFill>
        </p:spPr>
        <p:txBody>
          <a:bodyPr/>
          <a:lstStyle/>
          <a:p>
            <a:endParaRPr lang="ru-KZ"/>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43000" y="838200"/>
            <a:ext cx="17102138" cy="661988"/>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SYSTEM DESIGN &amp; DIRECTORY STRUCTURE</a:t>
            </a:r>
          </a:p>
        </p:txBody>
      </p:sp>
      <p:grpSp>
        <p:nvGrpSpPr>
          <p:cNvPr id="3" name="Group 3"/>
          <p:cNvGrpSpPr/>
          <p:nvPr/>
        </p:nvGrpSpPr>
        <p:grpSpPr>
          <a:xfrm>
            <a:off x="857250" y="857250"/>
            <a:ext cx="85725" cy="642938"/>
            <a:chOff x="0" y="0"/>
            <a:chExt cx="114300" cy="857250"/>
          </a:xfrm>
        </p:grpSpPr>
        <p:sp>
          <p:nvSpPr>
            <p:cNvPr id="4" name="Freeform 4"/>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grpSp>
        <p:nvGrpSpPr>
          <p:cNvPr id="5" name="Group 5"/>
          <p:cNvGrpSpPr/>
          <p:nvPr/>
        </p:nvGrpSpPr>
        <p:grpSpPr>
          <a:xfrm>
            <a:off x="9144000" y="3166248"/>
            <a:ext cx="10081260" cy="3954504"/>
            <a:chOff x="0" y="0"/>
            <a:chExt cx="13441680" cy="5272672"/>
          </a:xfrm>
        </p:grpSpPr>
        <p:sp>
          <p:nvSpPr>
            <p:cNvPr id="6" name="TextBox 6"/>
            <p:cNvSpPr txBox="1"/>
            <p:nvPr/>
          </p:nvSpPr>
          <p:spPr>
            <a:xfrm>
              <a:off x="0" y="-9525"/>
              <a:ext cx="13441680" cy="447675"/>
            </a:xfrm>
            <a:prstGeom prst="rect">
              <a:avLst/>
            </a:prstGeom>
          </p:spPr>
          <p:txBody>
            <a:bodyPr lIns="0" tIns="0" rIns="0" bIns="0" rtlCol="0" anchor="t">
              <a:spAutoFit/>
            </a:bodyPr>
            <a:lstStyle/>
            <a:p>
              <a:pPr algn="l">
                <a:lnSpc>
                  <a:spcPts val="2527"/>
                </a:lnSpc>
              </a:pPr>
              <a:r>
                <a:rPr lang="en-US" sz="2106" b="1">
                  <a:solidFill>
                    <a:srgbClr val="1E293B"/>
                  </a:solidFill>
                  <a:latin typeface="Arimo Bold"/>
                  <a:ea typeface="Arimo Bold"/>
                  <a:cs typeface="Arimo Bold"/>
                  <a:sym typeface="Arimo Bold"/>
                </a:rPr>
                <a:t>Modular Architecture</a:t>
              </a:r>
            </a:p>
          </p:txBody>
        </p:sp>
        <p:sp>
          <p:nvSpPr>
            <p:cNvPr id="7" name="TextBox 7"/>
            <p:cNvSpPr txBox="1"/>
            <p:nvPr/>
          </p:nvSpPr>
          <p:spPr>
            <a:xfrm>
              <a:off x="0" y="638175"/>
              <a:ext cx="12801600" cy="1240041"/>
            </a:xfrm>
            <a:prstGeom prst="rect">
              <a:avLst/>
            </a:prstGeom>
          </p:spPr>
          <p:txBody>
            <a:bodyPr lIns="0" tIns="0" rIns="0" bIns="0" rtlCol="0" anchor="t">
              <a:spAutoFit/>
            </a:bodyPr>
            <a:lstStyle/>
            <a:p>
              <a:pPr algn="l">
                <a:lnSpc>
                  <a:spcPts val="3887"/>
                </a:lnSpc>
              </a:pPr>
              <a:r>
                <a:rPr lang="en-US" sz="2025">
                  <a:solidFill>
                    <a:srgbClr val="475569"/>
                  </a:solidFill>
                  <a:latin typeface="Inter"/>
                  <a:ea typeface="Inter"/>
                  <a:cs typeface="Inter"/>
                  <a:sym typeface="Inter"/>
                </a:rPr>
                <a:t>The code is partitioned into logical layers to ensure maintainability and separation of concerns as per the </a:t>
              </a:r>
              <a:r>
                <a:rPr lang="en-US" sz="2025" b="1">
                  <a:solidFill>
                    <a:srgbClr val="475569"/>
                  </a:solidFill>
                  <a:latin typeface="Inter Bold"/>
                  <a:ea typeface="Inter Bold"/>
                  <a:cs typeface="Inter Bold"/>
                  <a:sym typeface="Inter Bold"/>
                </a:rPr>
                <a:t>ITP2 Requirements</a:t>
              </a:r>
              <a:r>
                <a:rPr lang="en-US" sz="2025">
                  <a:solidFill>
                    <a:srgbClr val="475569"/>
                  </a:solidFill>
                  <a:latin typeface="Inter"/>
                  <a:ea typeface="Inter"/>
                  <a:cs typeface="Inter"/>
                  <a:sym typeface="Inter"/>
                </a:rPr>
                <a:t>.</a:t>
              </a:r>
            </a:p>
          </p:txBody>
        </p:sp>
        <p:sp>
          <p:nvSpPr>
            <p:cNvPr id="8" name="TextBox 8"/>
            <p:cNvSpPr txBox="1"/>
            <p:nvPr/>
          </p:nvSpPr>
          <p:spPr>
            <a:xfrm>
              <a:off x="666750" y="2078228"/>
              <a:ext cx="12134850" cy="69145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Models:</a:t>
              </a:r>
              <a:r>
                <a:rPr lang="en-US" sz="2025">
                  <a:solidFill>
                    <a:srgbClr val="475569"/>
                  </a:solidFill>
                  <a:latin typeface="Inter"/>
                  <a:ea typeface="Inter"/>
                  <a:cs typeface="Inter"/>
                  <a:sym typeface="Inter"/>
                </a:rPr>
                <a:t> Clean data blueprints and attributes.</a:t>
              </a:r>
            </a:p>
          </p:txBody>
        </p:sp>
        <p:sp>
          <p:nvSpPr>
            <p:cNvPr id="9" name="TextBox 9"/>
            <p:cNvSpPr txBox="1"/>
            <p:nvPr/>
          </p:nvSpPr>
          <p:spPr>
            <a:xfrm>
              <a:off x="666750" y="2912567"/>
              <a:ext cx="12134850" cy="69145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Services:</a:t>
              </a:r>
              <a:r>
                <a:rPr lang="en-US" sz="2025">
                  <a:solidFill>
                    <a:srgbClr val="475569"/>
                  </a:solidFill>
                  <a:latin typeface="Inter"/>
                  <a:ea typeface="Inter"/>
                  <a:cs typeface="Inter"/>
                  <a:sym typeface="Inter"/>
                </a:rPr>
                <a:t> High-level business logic and rules.</a:t>
              </a:r>
            </a:p>
          </p:txBody>
        </p:sp>
        <p:sp>
          <p:nvSpPr>
            <p:cNvPr id="10" name="TextBox 10"/>
            <p:cNvSpPr txBox="1"/>
            <p:nvPr/>
          </p:nvSpPr>
          <p:spPr>
            <a:xfrm>
              <a:off x="666750" y="3746894"/>
              <a:ext cx="12134850" cy="69145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Utils:</a:t>
              </a:r>
              <a:r>
                <a:rPr lang="en-US" sz="2025">
                  <a:solidFill>
                    <a:srgbClr val="475569"/>
                  </a:solidFill>
                  <a:latin typeface="Inter"/>
                  <a:ea typeface="Inter"/>
                  <a:cs typeface="Inter"/>
                  <a:sym typeface="Inter"/>
                </a:rPr>
                <a:t> Low-level I/O and helper functions.</a:t>
              </a:r>
            </a:p>
          </p:txBody>
        </p:sp>
        <p:sp>
          <p:nvSpPr>
            <p:cNvPr id="11" name="TextBox 11"/>
            <p:cNvSpPr txBox="1"/>
            <p:nvPr/>
          </p:nvSpPr>
          <p:spPr>
            <a:xfrm>
              <a:off x="666750" y="4581220"/>
              <a:ext cx="12134850" cy="691451"/>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Data:</a:t>
              </a:r>
              <a:r>
                <a:rPr lang="en-US" sz="2025">
                  <a:solidFill>
                    <a:srgbClr val="475569"/>
                  </a:solidFill>
                  <a:latin typeface="Inter"/>
                  <a:ea typeface="Inter"/>
                  <a:cs typeface="Inter"/>
                  <a:sym typeface="Inter"/>
                </a:rPr>
                <a:t> Structured JSON storage for persistence.</a:t>
              </a:r>
            </a:p>
          </p:txBody>
        </p:sp>
        <p:grpSp>
          <p:nvGrpSpPr>
            <p:cNvPr id="12" name="Group 12"/>
            <p:cNvGrpSpPr/>
            <p:nvPr/>
          </p:nvGrpSpPr>
          <p:grpSpPr>
            <a:xfrm>
              <a:off x="0" y="2259203"/>
              <a:ext cx="304800" cy="361950"/>
              <a:chOff x="0" y="0"/>
              <a:chExt cx="304800" cy="361950"/>
            </a:xfrm>
          </p:grpSpPr>
          <p:sp>
            <p:nvSpPr>
              <p:cNvPr id="13" name="Freeform 13"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nvGrpSpPr>
            <p:cNvPr id="14" name="Group 14"/>
            <p:cNvGrpSpPr/>
            <p:nvPr/>
          </p:nvGrpSpPr>
          <p:grpSpPr>
            <a:xfrm>
              <a:off x="0" y="3093542"/>
              <a:ext cx="304800" cy="361950"/>
              <a:chOff x="0" y="0"/>
              <a:chExt cx="304800" cy="361950"/>
            </a:xfrm>
          </p:grpSpPr>
          <p:sp>
            <p:nvSpPr>
              <p:cNvPr id="15" name="Freeform 15"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nvGrpSpPr>
            <p:cNvPr id="16" name="Group 16"/>
            <p:cNvGrpSpPr/>
            <p:nvPr/>
          </p:nvGrpSpPr>
          <p:grpSpPr>
            <a:xfrm>
              <a:off x="0" y="3927869"/>
              <a:ext cx="304800" cy="361950"/>
              <a:chOff x="0" y="0"/>
              <a:chExt cx="304800" cy="361950"/>
            </a:xfrm>
          </p:grpSpPr>
          <p:sp>
            <p:nvSpPr>
              <p:cNvPr id="17" name="Freeform 17"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nvGrpSpPr>
            <p:cNvPr id="18" name="Group 18"/>
            <p:cNvGrpSpPr/>
            <p:nvPr/>
          </p:nvGrpSpPr>
          <p:grpSpPr>
            <a:xfrm>
              <a:off x="0" y="4762195"/>
              <a:ext cx="304800" cy="361950"/>
              <a:chOff x="0" y="0"/>
              <a:chExt cx="304800" cy="361950"/>
            </a:xfrm>
          </p:grpSpPr>
          <p:sp>
            <p:nvSpPr>
              <p:cNvPr id="19" name="Freeform 19"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3"/>
                <a:stretch>
                  <a:fillRect/>
                </a:stretch>
              </a:blipFill>
            </p:spPr>
            <p:txBody>
              <a:bodyPr/>
              <a:lstStyle/>
              <a:p>
                <a:endParaRPr lang="ru-KZ"/>
              </a:p>
            </p:txBody>
          </p:sp>
        </p:grpSp>
      </p:grpSp>
      <p:grpSp>
        <p:nvGrpSpPr>
          <p:cNvPr id="20" name="Group 20"/>
          <p:cNvGrpSpPr/>
          <p:nvPr/>
        </p:nvGrpSpPr>
        <p:grpSpPr>
          <a:xfrm>
            <a:off x="357204" y="2040874"/>
            <a:ext cx="8317834" cy="6205253"/>
            <a:chOff x="0" y="0"/>
            <a:chExt cx="11090445" cy="8273670"/>
          </a:xfrm>
        </p:grpSpPr>
        <p:grpSp>
          <p:nvGrpSpPr>
            <p:cNvPr id="21" name="Group 21"/>
            <p:cNvGrpSpPr/>
            <p:nvPr/>
          </p:nvGrpSpPr>
          <p:grpSpPr>
            <a:xfrm>
              <a:off x="0" y="0"/>
              <a:ext cx="11090445" cy="8273670"/>
              <a:chOff x="0" y="0"/>
              <a:chExt cx="11090445" cy="8273670"/>
            </a:xfrm>
          </p:grpSpPr>
          <p:sp>
            <p:nvSpPr>
              <p:cNvPr id="22" name="Freeform 22" descr="image.png"/>
              <p:cNvSpPr/>
              <p:nvPr/>
            </p:nvSpPr>
            <p:spPr>
              <a:xfrm>
                <a:off x="0" y="0"/>
                <a:ext cx="11090445" cy="8273670"/>
              </a:xfrm>
              <a:custGeom>
                <a:avLst/>
                <a:gdLst/>
                <a:ahLst/>
                <a:cxnLst/>
                <a:rect l="l" t="t" r="r" b="b"/>
                <a:pathLst>
                  <a:path w="11090445" h="8273670">
                    <a:moveTo>
                      <a:pt x="293190" y="0"/>
                    </a:moveTo>
                    <a:lnTo>
                      <a:pt x="10797255" y="0"/>
                    </a:lnTo>
                    <a:cubicBezTo>
                      <a:pt x="10875014" y="0"/>
                      <a:pt x="10949587" y="30890"/>
                      <a:pt x="11004572" y="85873"/>
                    </a:cubicBezTo>
                    <a:cubicBezTo>
                      <a:pt x="11059555" y="140857"/>
                      <a:pt x="11090445" y="215431"/>
                      <a:pt x="11090445" y="293190"/>
                    </a:cubicBezTo>
                    <a:lnTo>
                      <a:pt x="11090445" y="7980480"/>
                    </a:lnTo>
                    <a:cubicBezTo>
                      <a:pt x="11090445" y="8058239"/>
                      <a:pt x="11059555" y="8132813"/>
                      <a:pt x="11004572" y="8187797"/>
                    </a:cubicBezTo>
                    <a:cubicBezTo>
                      <a:pt x="10949587" y="8242781"/>
                      <a:pt x="10875014" y="8273670"/>
                      <a:pt x="10797255" y="8273670"/>
                    </a:cubicBezTo>
                    <a:lnTo>
                      <a:pt x="293190" y="8273670"/>
                    </a:lnTo>
                    <a:cubicBezTo>
                      <a:pt x="215431" y="8273670"/>
                      <a:pt x="140857" y="8242781"/>
                      <a:pt x="85873" y="8187797"/>
                    </a:cubicBezTo>
                    <a:cubicBezTo>
                      <a:pt x="30890" y="8132813"/>
                      <a:pt x="0" y="8058239"/>
                      <a:pt x="0" y="7980480"/>
                    </a:cubicBezTo>
                    <a:lnTo>
                      <a:pt x="0" y="293190"/>
                    </a:lnTo>
                    <a:cubicBezTo>
                      <a:pt x="0" y="215431"/>
                      <a:pt x="30890" y="140857"/>
                      <a:pt x="85873" y="85873"/>
                    </a:cubicBezTo>
                    <a:cubicBezTo>
                      <a:pt x="140857" y="30890"/>
                      <a:pt x="215431" y="0"/>
                      <a:pt x="293190" y="0"/>
                    </a:cubicBezTo>
                    <a:close/>
                  </a:path>
                </a:pathLst>
              </a:custGeom>
              <a:blipFill>
                <a:blip r:embed="rId4"/>
                <a:stretch>
                  <a:fillRect l="-5333" r="-5333" b="-331"/>
                </a:stretch>
              </a:blipFill>
            </p:spPr>
            <p:txBody>
              <a:bodyPr/>
              <a:lstStyle/>
              <a:p>
                <a:endParaRPr lang="ru-KZ"/>
              </a:p>
            </p:txBody>
          </p:sp>
        </p:grpSp>
        <p:sp>
          <p:nvSpPr>
            <p:cNvPr id="23" name="TextBox 23"/>
            <p:cNvSpPr txBox="1"/>
            <p:nvPr/>
          </p:nvSpPr>
          <p:spPr>
            <a:xfrm>
              <a:off x="519500" y="415968"/>
              <a:ext cx="9161756" cy="7387317"/>
            </a:xfrm>
            <a:prstGeom prst="rect">
              <a:avLst/>
            </a:prstGeom>
          </p:spPr>
          <p:txBody>
            <a:bodyPr lIns="0" tIns="0" rIns="0" bIns="0" rtlCol="0" anchor="t">
              <a:spAutoFit/>
            </a:bodyPr>
            <a:lstStyle/>
            <a:p>
              <a:pPr algn="l">
                <a:lnSpc>
                  <a:spcPts val="2215"/>
                </a:lnSpc>
                <a:spcBef>
                  <a:spcPct val="0"/>
                </a:spcBef>
              </a:pPr>
              <a:r>
                <a:rPr lang="en-US" sz="1153">
                  <a:solidFill>
                    <a:srgbClr val="F8FAFC"/>
                  </a:solidFill>
                  <a:latin typeface="Inter"/>
                  <a:ea typeface="Inter"/>
                  <a:cs typeface="Inter"/>
                  <a:sym typeface="Inter"/>
                </a:rPr>
                <a:t>├── main.py                    # CLI application entry point</a:t>
              </a:r>
            </a:p>
            <a:p>
              <a:pPr algn="l">
                <a:lnSpc>
                  <a:spcPts val="2215"/>
                </a:lnSpc>
                <a:spcBef>
                  <a:spcPct val="0"/>
                </a:spcBef>
              </a:pPr>
              <a:r>
                <a:rPr lang="en-US" sz="1153">
                  <a:solidFill>
                    <a:srgbClr val="F8FAFC"/>
                  </a:solidFill>
                  <a:latin typeface="Inter"/>
                  <a:ea typeface="Inter"/>
                  <a:cs typeface="Inter"/>
                  <a:sym typeface="Inter"/>
                </a:rPr>
                <a:t>├── data/                      # JSON data files</a:t>
              </a:r>
            </a:p>
            <a:p>
              <a:pPr algn="l">
                <a:lnSpc>
                  <a:spcPts val="2215"/>
                </a:lnSpc>
                <a:spcBef>
                  <a:spcPct val="0"/>
                </a:spcBef>
              </a:pPr>
              <a:r>
                <a:rPr lang="en-US" sz="1153">
                  <a:solidFill>
                    <a:srgbClr val="F8FAFC"/>
                  </a:solidFill>
                  <a:latin typeface="Inter"/>
                  <a:ea typeface="Inter"/>
                  <a:cs typeface="Inter"/>
                  <a:sym typeface="Inter"/>
                </a:rPr>
                <a:t>│   ├── books.json</a:t>
              </a:r>
            </a:p>
            <a:p>
              <a:pPr algn="l">
                <a:lnSpc>
                  <a:spcPts val="2215"/>
                </a:lnSpc>
                <a:spcBef>
                  <a:spcPct val="0"/>
                </a:spcBef>
              </a:pPr>
              <a:r>
                <a:rPr lang="en-US" sz="1153">
                  <a:solidFill>
                    <a:srgbClr val="F8FAFC"/>
                  </a:solidFill>
                  <a:latin typeface="Inter"/>
                  <a:ea typeface="Inter"/>
                  <a:cs typeface="Inter"/>
                  <a:sym typeface="Inter"/>
                </a:rPr>
                <a:t>│   └── users.json</a:t>
              </a:r>
            </a:p>
            <a:p>
              <a:pPr algn="l">
                <a:lnSpc>
                  <a:spcPts val="2215"/>
                </a:lnSpc>
                <a:spcBef>
                  <a:spcPct val="0"/>
                </a:spcBef>
              </a:pPr>
              <a:r>
                <a:rPr lang="en-US" sz="1153">
                  <a:solidFill>
                    <a:srgbClr val="F8FAFC"/>
                  </a:solidFill>
                  <a:latin typeface="Inter"/>
                  <a:ea typeface="Inter"/>
                  <a:cs typeface="Inter"/>
                  <a:sym typeface="Inter"/>
                </a:rPr>
                <a:t>├── models/                    # Data models</a:t>
              </a:r>
            </a:p>
            <a:p>
              <a:pPr algn="l">
                <a:lnSpc>
                  <a:spcPts val="2215"/>
                </a:lnSpc>
                <a:spcBef>
                  <a:spcPct val="0"/>
                </a:spcBef>
              </a:pPr>
              <a:r>
                <a:rPr lang="en-US" sz="1153">
                  <a:solidFill>
                    <a:srgbClr val="F8FAFC"/>
                  </a:solidFill>
                  <a:latin typeface="Inter"/>
                  <a:ea typeface="Inter"/>
                  <a:cs typeface="Inter"/>
                  <a:sym typeface="Inter"/>
                </a:rPr>
                <a:t>│   ├── book.py</a:t>
              </a:r>
            </a:p>
            <a:p>
              <a:pPr algn="l">
                <a:lnSpc>
                  <a:spcPts val="2215"/>
                </a:lnSpc>
                <a:spcBef>
                  <a:spcPct val="0"/>
                </a:spcBef>
              </a:pPr>
              <a:r>
                <a:rPr lang="en-US" sz="1153">
                  <a:solidFill>
                    <a:srgbClr val="F8FAFC"/>
                  </a:solidFill>
                  <a:latin typeface="Inter"/>
                  <a:ea typeface="Inter"/>
                  <a:cs typeface="Inter"/>
                  <a:sym typeface="Inter"/>
                </a:rPr>
                <a:t>│   ├── person.py</a:t>
              </a:r>
            </a:p>
            <a:p>
              <a:pPr algn="l">
                <a:lnSpc>
                  <a:spcPts val="2215"/>
                </a:lnSpc>
                <a:spcBef>
                  <a:spcPct val="0"/>
                </a:spcBef>
              </a:pPr>
              <a:r>
                <a:rPr lang="en-US" sz="1153">
                  <a:solidFill>
                    <a:srgbClr val="F8FAFC"/>
                  </a:solidFill>
                  <a:latin typeface="Inter"/>
                  <a:ea typeface="Inter"/>
                  <a:cs typeface="Inter"/>
                  <a:sym typeface="Inter"/>
                </a:rPr>
                <a:t>│   ├── user.py</a:t>
              </a:r>
            </a:p>
            <a:p>
              <a:pPr algn="l">
                <a:lnSpc>
                  <a:spcPts val="2215"/>
                </a:lnSpc>
                <a:spcBef>
                  <a:spcPct val="0"/>
                </a:spcBef>
              </a:pPr>
              <a:r>
                <a:rPr lang="en-US" sz="1153">
                  <a:solidFill>
                    <a:srgbClr val="F8FAFC"/>
                  </a:solidFill>
                  <a:latin typeface="Inter"/>
                  <a:ea typeface="Inter"/>
                  <a:cs typeface="Inter"/>
                  <a:sym typeface="Inter"/>
                </a:rPr>
                <a:t>│   └── __init__.py</a:t>
              </a:r>
            </a:p>
            <a:p>
              <a:pPr algn="l">
                <a:lnSpc>
                  <a:spcPts val="2215"/>
                </a:lnSpc>
                <a:spcBef>
                  <a:spcPct val="0"/>
                </a:spcBef>
              </a:pPr>
              <a:r>
                <a:rPr lang="en-US" sz="1153">
                  <a:solidFill>
                    <a:srgbClr val="F8FAFC"/>
                  </a:solidFill>
                  <a:latin typeface="Inter"/>
                  <a:ea typeface="Inter"/>
                  <a:cs typeface="Inter"/>
                  <a:sym typeface="Inter"/>
                </a:rPr>
                <a:t>├── services/                  # Business logic</a:t>
              </a:r>
            </a:p>
            <a:p>
              <a:pPr algn="l">
                <a:lnSpc>
                  <a:spcPts val="2215"/>
                </a:lnSpc>
                <a:spcBef>
                  <a:spcPct val="0"/>
                </a:spcBef>
              </a:pPr>
              <a:r>
                <a:rPr lang="en-US" sz="1153">
                  <a:solidFill>
                    <a:srgbClr val="F8FAFC"/>
                  </a:solidFill>
                  <a:latin typeface="Inter"/>
                  <a:ea typeface="Inter"/>
                  <a:cs typeface="Inter"/>
                  <a:sym typeface="Inter"/>
                </a:rPr>
                <a:t>│   ├── library_service.py</a:t>
              </a:r>
            </a:p>
            <a:p>
              <a:pPr algn="l">
                <a:lnSpc>
                  <a:spcPts val="2215"/>
                </a:lnSpc>
                <a:spcBef>
                  <a:spcPct val="0"/>
                </a:spcBef>
              </a:pPr>
              <a:r>
                <a:rPr lang="en-US" sz="1153">
                  <a:solidFill>
                    <a:srgbClr val="F8FAFC"/>
                  </a:solidFill>
                  <a:latin typeface="Inter"/>
                  <a:ea typeface="Inter"/>
                  <a:cs typeface="Inter"/>
                  <a:sym typeface="Inter"/>
                </a:rPr>
                <a:t>│   └── __init__.py</a:t>
              </a:r>
            </a:p>
            <a:p>
              <a:pPr algn="l">
                <a:lnSpc>
                  <a:spcPts val="2215"/>
                </a:lnSpc>
                <a:spcBef>
                  <a:spcPct val="0"/>
                </a:spcBef>
              </a:pPr>
              <a:r>
                <a:rPr lang="en-US" sz="1153">
                  <a:solidFill>
                    <a:srgbClr val="F8FAFC"/>
                  </a:solidFill>
                  <a:latin typeface="Inter"/>
                  <a:ea typeface="Inter"/>
                  <a:cs typeface="Inter"/>
                  <a:sym typeface="Inter"/>
                </a:rPr>
                <a:t>├── utils/                     # Utility functions</a:t>
              </a:r>
            </a:p>
            <a:p>
              <a:pPr algn="l">
                <a:lnSpc>
                  <a:spcPts val="2215"/>
                </a:lnSpc>
                <a:spcBef>
                  <a:spcPct val="0"/>
                </a:spcBef>
              </a:pPr>
              <a:r>
                <a:rPr lang="en-US" sz="1153">
                  <a:solidFill>
                    <a:srgbClr val="F8FAFC"/>
                  </a:solidFill>
                  <a:latin typeface="Inter"/>
                  <a:ea typeface="Inter"/>
                  <a:cs typeface="Inter"/>
                  <a:sym typeface="Inter"/>
                </a:rPr>
                <a:t>│   ├── files_handler.py       # JSON file I/O</a:t>
              </a:r>
            </a:p>
            <a:p>
              <a:pPr algn="l">
                <a:lnSpc>
                  <a:spcPts val="2215"/>
                </a:lnSpc>
                <a:spcBef>
                  <a:spcPct val="0"/>
                </a:spcBef>
              </a:pPr>
              <a:r>
                <a:rPr lang="en-US" sz="1153">
                  <a:solidFill>
                    <a:srgbClr val="F8FAFC"/>
                  </a:solidFill>
                  <a:latin typeface="Inter"/>
                  <a:ea typeface="Inter"/>
                  <a:cs typeface="Inter"/>
                  <a:sym typeface="Inter"/>
                </a:rPr>
                <a:t>│   └── __init__.py</a:t>
              </a:r>
            </a:p>
            <a:p>
              <a:pPr algn="l">
                <a:lnSpc>
                  <a:spcPts val="2215"/>
                </a:lnSpc>
                <a:spcBef>
                  <a:spcPct val="0"/>
                </a:spcBef>
              </a:pPr>
              <a:r>
                <a:rPr lang="en-US" sz="1153">
                  <a:solidFill>
                    <a:srgbClr val="F8FAFC"/>
                  </a:solidFill>
                  <a:latin typeface="Inter"/>
                  <a:ea typeface="Inter"/>
                  <a:cs typeface="Inter"/>
                  <a:sym typeface="Inter"/>
                </a:rPr>
                <a:t>└── tests/                     # Unit tests</a:t>
              </a:r>
            </a:p>
            <a:p>
              <a:pPr algn="l">
                <a:lnSpc>
                  <a:spcPts val="2215"/>
                </a:lnSpc>
                <a:spcBef>
                  <a:spcPct val="0"/>
                </a:spcBef>
              </a:pPr>
              <a:r>
                <a:rPr lang="en-US" sz="1153">
                  <a:solidFill>
                    <a:srgbClr val="F8FAFC"/>
                  </a:solidFill>
                  <a:latin typeface="Inter"/>
                  <a:ea typeface="Inter"/>
                  <a:cs typeface="Inter"/>
                  <a:sym typeface="Inter"/>
                </a:rPr>
                <a:t>    ├── test_models.py</a:t>
              </a:r>
            </a:p>
            <a:p>
              <a:pPr algn="l">
                <a:lnSpc>
                  <a:spcPts val="2215"/>
                </a:lnSpc>
                <a:spcBef>
                  <a:spcPct val="0"/>
                </a:spcBef>
              </a:pPr>
              <a:r>
                <a:rPr lang="en-US" sz="1153">
                  <a:solidFill>
                    <a:srgbClr val="F8FAFC"/>
                  </a:solidFill>
                  <a:latin typeface="Inter"/>
                  <a:ea typeface="Inter"/>
                  <a:cs typeface="Inter"/>
                  <a:sym typeface="Inter"/>
                </a:rPr>
                <a:t>    ├── test_services.py</a:t>
              </a:r>
            </a:p>
            <a:p>
              <a:pPr algn="l">
                <a:lnSpc>
                  <a:spcPts val="2215"/>
                </a:lnSpc>
                <a:spcBef>
                  <a:spcPct val="0"/>
                </a:spcBef>
              </a:pPr>
              <a:r>
                <a:rPr lang="en-US" sz="1153">
                  <a:solidFill>
                    <a:srgbClr val="F8FAFC"/>
                  </a:solidFill>
                  <a:latin typeface="Inter"/>
                  <a:ea typeface="Inter"/>
                  <a:cs typeface="Inter"/>
                  <a:sym typeface="Inter"/>
                </a:rPr>
                <a:t>    ├── test_library.py</a:t>
              </a:r>
            </a:p>
            <a:p>
              <a:pPr algn="l">
                <a:lnSpc>
                  <a:spcPts val="2215"/>
                </a:lnSpc>
                <a:spcBef>
                  <a:spcPct val="0"/>
                </a:spcBef>
              </a:pPr>
              <a:r>
                <a:rPr lang="en-US" sz="1153">
                  <a:solidFill>
                    <a:srgbClr val="F8FAFC"/>
                  </a:solidFill>
                  <a:latin typeface="Inter"/>
                  <a:ea typeface="Inter"/>
                  <a:cs typeface="Inter"/>
                  <a:sym typeface="Inter"/>
                </a:rPr>
                <a:t>    └── __init__.py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ru-KZ"/>
            </a:p>
          </p:txBody>
        </p:sp>
      </p:grpSp>
      <p:grpSp>
        <p:nvGrpSpPr>
          <p:cNvPr id="4" name="Group 4"/>
          <p:cNvGrpSpPr/>
          <p:nvPr/>
        </p:nvGrpSpPr>
        <p:grpSpPr>
          <a:xfrm>
            <a:off x="857250" y="2664619"/>
            <a:ext cx="8143875" cy="2943225"/>
            <a:chOff x="0" y="0"/>
            <a:chExt cx="10858500" cy="3924300"/>
          </a:xfrm>
        </p:grpSpPr>
        <p:sp>
          <p:nvSpPr>
            <p:cNvPr id="5" name="Freeform 5" descr="image.png"/>
            <p:cNvSpPr/>
            <p:nvPr/>
          </p:nvSpPr>
          <p:spPr>
            <a:xfrm>
              <a:off x="0" y="0"/>
              <a:ext cx="10858500" cy="3924300"/>
            </a:xfrm>
            <a:custGeom>
              <a:avLst/>
              <a:gdLst/>
              <a:ahLst/>
              <a:cxnLst/>
              <a:rect l="l" t="t" r="r" b="b"/>
              <a:pathLst>
                <a:path w="10858500" h="3924300">
                  <a:moveTo>
                    <a:pt x="0" y="0"/>
                  </a:moveTo>
                  <a:lnTo>
                    <a:pt x="10858500" y="0"/>
                  </a:lnTo>
                  <a:lnTo>
                    <a:pt x="10858500" y="3924300"/>
                  </a:lnTo>
                  <a:lnTo>
                    <a:pt x="0" y="3924300"/>
                  </a:lnTo>
                  <a:lnTo>
                    <a:pt x="0" y="0"/>
                  </a:lnTo>
                  <a:close/>
                </a:path>
              </a:pathLst>
            </a:custGeom>
            <a:blipFill>
              <a:blip r:embed="rId4"/>
              <a:stretch>
                <a:fillRect b="-485"/>
              </a:stretch>
            </a:blipFill>
          </p:spPr>
          <p:txBody>
            <a:bodyPr/>
            <a:lstStyle/>
            <a:p>
              <a:endParaRPr lang="ru-KZ"/>
            </a:p>
          </p:txBody>
        </p:sp>
      </p:grpSp>
      <p:grpSp>
        <p:nvGrpSpPr>
          <p:cNvPr id="6" name="Group 6"/>
          <p:cNvGrpSpPr/>
          <p:nvPr/>
        </p:nvGrpSpPr>
        <p:grpSpPr>
          <a:xfrm>
            <a:off x="9286875" y="2664619"/>
            <a:ext cx="8143875" cy="2943225"/>
            <a:chOff x="0" y="0"/>
            <a:chExt cx="10858500" cy="3924300"/>
          </a:xfrm>
        </p:grpSpPr>
        <p:sp>
          <p:nvSpPr>
            <p:cNvPr id="7" name="Freeform 7" descr="image.png"/>
            <p:cNvSpPr/>
            <p:nvPr/>
          </p:nvSpPr>
          <p:spPr>
            <a:xfrm>
              <a:off x="0" y="0"/>
              <a:ext cx="10858500" cy="3924300"/>
            </a:xfrm>
            <a:custGeom>
              <a:avLst/>
              <a:gdLst/>
              <a:ahLst/>
              <a:cxnLst/>
              <a:rect l="l" t="t" r="r" b="b"/>
              <a:pathLst>
                <a:path w="10858500" h="3924300">
                  <a:moveTo>
                    <a:pt x="0" y="0"/>
                  </a:moveTo>
                  <a:lnTo>
                    <a:pt x="10858500" y="0"/>
                  </a:lnTo>
                  <a:lnTo>
                    <a:pt x="10858500" y="3924300"/>
                  </a:lnTo>
                  <a:lnTo>
                    <a:pt x="0" y="3924300"/>
                  </a:lnTo>
                  <a:lnTo>
                    <a:pt x="0" y="0"/>
                  </a:lnTo>
                  <a:close/>
                </a:path>
              </a:pathLst>
            </a:custGeom>
            <a:blipFill>
              <a:blip r:embed="rId4"/>
              <a:stretch>
                <a:fillRect b="-485"/>
              </a:stretch>
            </a:blipFill>
          </p:spPr>
          <p:txBody>
            <a:bodyPr/>
            <a:lstStyle/>
            <a:p>
              <a:endParaRPr lang="ru-KZ"/>
            </a:p>
          </p:txBody>
        </p:sp>
      </p:grpSp>
      <p:grpSp>
        <p:nvGrpSpPr>
          <p:cNvPr id="8" name="Group 8"/>
          <p:cNvGrpSpPr/>
          <p:nvPr/>
        </p:nvGrpSpPr>
        <p:grpSpPr>
          <a:xfrm>
            <a:off x="857250" y="5893594"/>
            <a:ext cx="8143875" cy="2943225"/>
            <a:chOff x="0" y="0"/>
            <a:chExt cx="10858500" cy="3924300"/>
          </a:xfrm>
        </p:grpSpPr>
        <p:sp>
          <p:nvSpPr>
            <p:cNvPr id="9" name="Freeform 9" descr="image.png"/>
            <p:cNvSpPr/>
            <p:nvPr/>
          </p:nvSpPr>
          <p:spPr>
            <a:xfrm>
              <a:off x="0" y="0"/>
              <a:ext cx="10858500" cy="3924300"/>
            </a:xfrm>
            <a:custGeom>
              <a:avLst/>
              <a:gdLst/>
              <a:ahLst/>
              <a:cxnLst/>
              <a:rect l="l" t="t" r="r" b="b"/>
              <a:pathLst>
                <a:path w="10858500" h="3924300">
                  <a:moveTo>
                    <a:pt x="0" y="0"/>
                  </a:moveTo>
                  <a:lnTo>
                    <a:pt x="10858500" y="0"/>
                  </a:lnTo>
                  <a:lnTo>
                    <a:pt x="10858500" y="3924300"/>
                  </a:lnTo>
                  <a:lnTo>
                    <a:pt x="0" y="3924300"/>
                  </a:lnTo>
                  <a:lnTo>
                    <a:pt x="0" y="0"/>
                  </a:lnTo>
                  <a:close/>
                </a:path>
              </a:pathLst>
            </a:custGeom>
            <a:blipFill>
              <a:blip r:embed="rId4"/>
              <a:stretch>
                <a:fillRect b="-485"/>
              </a:stretch>
            </a:blipFill>
          </p:spPr>
          <p:txBody>
            <a:bodyPr/>
            <a:lstStyle/>
            <a:p>
              <a:endParaRPr lang="ru-KZ"/>
            </a:p>
          </p:txBody>
        </p:sp>
      </p:grpSp>
      <p:grpSp>
        <p:nvGrpSpPr>
          <p:cNvPr id="10" name="Group 10"/>
          <p:cNvGrpSpPr/>
          <p:nvPr/>
        </p:nvGrpSpPr>
        <p:grpSpPr>
          <a:xfrm>
            <a:off x="9286875" y="5893594"/>
            <a:ext cx="8143875" cy="2943225"/>
            <a:chOff x="0" y="0"/>
            <a:chExt cx="10858500" cy="3924300"/>
          </a:xfrm>
        </p:grpSpPr>
        <p:sp>
          <p:nvSpPr>
            <p:cNvPr id="11" name="Freeform 11" descr="image.png"/>
            <p:cNvSpPr/>
            <p:nvPr/>
          </p:nvSpPr>
          <p:spPr>
            <a:xfrm>
              <a:off x="0" y="0"/>
              <a:ext cx="10858500" cy="3924300"/>
            </a:xfrm>
            <a:custGeom>
              <a:avLst/>
              <a:gdLst/>
              <a:ahLst/>
              <a:cxnLst/>
              <a:rect l="l" t="t" r="r" b="b"/>
              <a:pathLst>
                <a:path w="10858500" h="3924300">
                  <a:moveTo>
                    <a:pt x="0" y="0"/>
                  </a:moveTo>
                  <a:lnTo>
                    <a:pt x="10858500" y="0"/>
                  </a:lnTo>
                  <a:lnTo>
                    <a:pt x="10858500" y="3924300"/>
                  </a:lnTo>
                  <a:lnTo>
                    <a:pt x="0" y="3924300"/>
                  </a:lnTo>
                  <a:lnTo>
                    <a:pt x="0" y="0"/>
                  </a:lnTo>
                  <a:close/>
                </a:path>
              </a:pathLst>
            </a:custGeom>
            <a:blipFill>
              <a:blip r:embed="rId4"/>
              <a:stretch>
                <a:fillRect b="-485"/>
              </a:stretch>
            </a:blipFill>
          </p:spPr>
          <p:txBody>
            <a:bodyPr/>
            <a:lstStyle/>
            <a:p>
              <a:endParaRPr lang="ru-KZ"/>
            </a:p>
          </p:txBody>
        </p:sp>
      </p:grpSp>
      <p:sp>
        <p:nvSpPr>
          <p:cNvPr id="12" name="TextBox 12"/>
          <p:cNvSpPr txBox="1"/>
          <p:nvPr/>
        </p:nvSpPr>
        <p:spPr>
          <a:xfrm>
            <a:off x="1143000" y="838200"/>
            <a:ext cx="17102138" cy="661988"/>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TEAM CONTRIBUTION BREAKDOWN</a:t>
            </a:r>
          </a:p>
        </p:txBody>
      </p:sp>
      <p:grpSp>
        <p:nvGrpSpPr>
          <p:cNvPr id="13" name="Group 13"/>
          <p:cNvGrpSpPr/>
          <p:nvPr/>
        </p:nvGrpSpPr>
        <p:grpSpPr>
          <a:xfrm>
            <a:off x="857250" y="857250"/>
            <a:ext cx="85725" cy="642938"/>
            <a:chOff x="0" y="0"/>
            <a:chExt cx="114300" cy="857250"/>
          </a:xfrm>
        </p:grpSpPr>
        <p:sp>
          <p:nvSpPr>
            <p:cNvPr id="14" name="Freeform 14"/>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grpSp>
        <p:nvGrpSpPr>
          <p:cNvPr id="15" name="Group 15"/>
          <p:cNvGrpSpPr/>
          <p:nvPr/>
        </p:nvGrpSpPr>
        <p:grpSpPr>
          <a:xfrm>
            <a:off x="1285875" y="3093244"/>
            <a:ext cx="357188" cy="400050"/>
            <a:chOff x="0" y="0"/>
            <a:chExt cx="476250" cy="533400"/>
          </a:xfrm>
        </p:grpSpPr>
        <p:sp>
          <p:nvSpPr>
            <p:cNvPr id="16" name="Freeform 16" descr="image.png"/>
            <p:cNvSpPr/>
            <p:nvPr/>
          </p:nvSpPr>
          <p:spPr>
            <a:xfrm>
              <a:off x="0" y="0"/>
              <a:ext cx="476250" cy="533400"/>
            </a:xfrm>
            <a:custGeom>
              <a:avLst/>
              <a:gdLst/>
              <a:ahLst/>
              <a:cxnLst/>
              <a:rect l="l" t="t" r="r" b="b"/>
              <a:pathLst>
                <a:path w="476250" h="533400">
                  <a:moveTo>
                    <a:pt x="0" y="0"/>
                  </a:moveTo>
                  <a:lnTo>
                    <a:pt x="476250" y="0"/>
                  </a:lnTo>
                  <a:lnTo>
                    <a:pt x="476250" y="533400"/>
                  </a:lnTo>
                  <a:lnTo>
                    <a:pt x="0" y="533400"/>
                  </a:lnTo>
                  <a:lnTo>
                    <a:pt x="0" y="0"/>
                  </a:lnTo>
                  <a:close/>
                </a:path>
              </a:pathLst>
            </a:custGeom>
            <a:blipFill>
              <a:blip r:embed="rId5"/>
              <a:stretch>
                <a:fillRect b="-3571"/>
              </a:stretch>
            </a:blipFill>
          </p:spPr>
          <p:txBody>
            <a:bodyPr/>
            <a:lstStyle/>
            <a:p>
              <a:endParaRPr lang="ru-KZ"/>
            </a:p>
          </p:txBody>
        </p:sp>
      </p:grpSp>
      <p:sp>
        <p:nvSpPr>
          <p:cNvPr id="17" name="TextBox 17"/>
          <p:cNvSpPr txBox="1"/>
          <p:nvPr/>
        </p:nvSpPr>
        <p:spPr>
          <a:xfrm>
            <a:off x="1285875" y="3688556"/>
            <a:ext cx="7650956" cy="285750"/>
          </a:xfrm>
          <a:prstGeom prst="rect">
            <a:avLst/>
          </a:prstGeom>
        </p:spPr>
        <p:txBody>
          <a:bodyPr lIns="0" tIns="0" rIns="0" bIns="0" rtlCol="0" anchor="t">
            <a:spAutoFit/>
          </a:bodyPr>
          <a:lstStyle/>
          <a:p>
            <a:pPr algn="l">
              <a:lnSpc>
                <a:spcPts val="2160"/>
              </a:lnSpc>
            </a:pPr>
            <a:r>
              <a:rPr lang="en-US" sz="1800" b="1">
                <a:solidFill>
                  <a:srgbClr val="2563EB"/>
                </a:solidFill>
                <a:latin typeface="Arimo Bold"/>
                <a:ea typeface="Arimo Bold"/>
                <a:cs typeface="Arimo Bold"/>
                <a:sym typeface="Arimo Bold"/>
              </a:rPr>
              <a:t>Assemgazy Olzhas : Data Engineer</a:t>
            </a:r>
          </a:p>
        </p:txBody>
      </p:sp>
      <p:sp>
        <p:nvSpPr>
          <p:cNvPr id="18" name="TextBox 18"/>
          <p:cNvSpPr txBox="1"/>
          <p:nvPr/>
        </p:nvSpPr>
        <p:spPr>
          <a:xfrm>
            <a:off x="1285875" y="4107656"/>
            <a:ext cx="7286625" cy="8001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Implemented JSON handling, file I/O operations, and hash-map optimization for $O(1)$ lookups.</a:t>
            </a:r>
          </a:p>
        </p:txBody>
      </p:sp>
      <p:grpSp>
        <p:nvGrpSpPr>
          <p:cNvPr id="19" name="Group 19"/>
          <p:cNvGrpSpPr/>
          <p:nvPr/>
        </p:nvGrpSpPr>
        <p:grpSpPr>
          <a:xfrm>
            <a:off x="9715500" y="3093244"/>
            <a:ext cx="500062" cy="400050"/>
            <a:chOff x="0" y="0"/>
            <a:chExt cx="666750" cy="533400"/>
          </a:xfrm>
        </p:grpSpPr>
        <p:sp>
          <p:nvSpPr>
            <p:cNvPr id="20" name="Freeform 20" descr="image.png"/>
            <p:cNvSpPr/>
            <p:nvPr/>
          </p:nvSpPr>
          <p:spPr>
            <a:xfrm>
              <a:off x="0" y="0"/>
              <a:ext cx="666750" cy="533400"/>
            </a:xfrm>
            <a:custGeom>
              <a:avLst/>
              <a:gdLst/>
              <a:ahLst/>
              <a:cxnLst/>
              <a:rect l="l" t="t" r="r" b="b"/>
              <a:pathLst>
                <a:path w="666750" h="533400">
                  <a:moveTo>
                    <a:pt x="0" y="0"/>
                  </a:moveTo>
                  <a:lnTo>
                    <a:pt x="666750" y="0"/>
                  </a:lnTo>
                  <a:lnTo>
                    <a:pt x="666750" y="533400"/>
                  </a:lnTo>
                  <a:lnTo>
                    <a:pt x="0" y="533400"/>
                  </a:lnTo>
                  <a:lnTo>
                    <a:pt x="0" y="0"/>
                  </a:lnTo>
                  <a:close/>
                </a:path>
              </a:pathLst>
            </a:custGeom>
            <a:blipFill>
              <a:blip r:embed="rId6"/>
              <a:stretch>
                <a:fillRect b="-3571"/>
              </a:stretch>
            </a:blipFill>
          </p:spPr>
          <p:txBody>
            <a:bodyPr/>
            <a:lstStyle/>
            <a:p>
              <a:endParaRPr lang="ru-KZ"/>
            </a:p>
          </p:txBody>
        </p:sp>
      </p:grpSp>
      <p:sp>
        <p:nvSpPr>
          <p:cNvPr id="21" name="TextBox 21"/>
          <p:cNvSpPr txBox="1"/>
          <p:nvPr/>
        </p:nvSpPr>
        <p:spPr>
          <a:xfrm>
            <a:off x="9715500" y="3688556"/>
            <a:ext cx="7650956" cy="285750"/>
          </a:xfrm>
          <a:prstGeom prst="rect">
            <a:avLst/>
          </a:prstGeom>
        </p:spPr>
        <p:txBody>
          <a:bodyPr lIns="0" tIns="0" rIns="0" bIns="0" rtlCol="0" anchor="t">
            <a:spAutoFit/>
          </a:bodyPr>
          <a:lstStyle/>
          <a:p>
            <a:pPr algn="l">
              <a:lnSpc>
                <a:spcPts val="2160"/>
              </a:lnSpc>
            </a:pPr>
            <a:r>
              <a:rPr lang="en-US" sz="1800" b="1">
                <a:solidFill>
                  <a:srgbClr val="2563EB"/>
                </a:solidFill>
                <a:latin typeface="Arimo Bold"/>
                <a:ea typeface="Arimo Bold"/>
                <a:cs typeface="Arimo Bold"/>
                <a:sym typeface="Arimo Bold"/>
              </a:rPr>
              <a:t>Miras Tulkibay : OOP Architect</a:t>
            </a:r>
          </a:p>
        </p:txBody>
      </p:sp>
      <p:sp>
        <p:nvSpPr>
          <p:cNvPr id="22" name="TextBox 22"/>
          <p:cNvSpPr txBox="1"/>
          <p:nvPr/>
        </p:nvSpPr>
        <p:spPr>
          <a:xfrm>
            <a:off x="9715500" y="4107656"/>
            <a:ext cx="7286625" cy="8001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Designed class hierarchies, including Encapsulation of availability states and Inheritance models.</a:t>
            </a:r>
          </a:p>
        </p:txBody>
      </p:sp>
      <p:grpSp>
        <p:nvGrpSpPr>
          <p:cNvPr id="23" name="Group 23"/>
          <p:cNvGrpSpPr/>
          <p:nvPr/>
        </p:nvGrpSpPr>
        <p:grpSpPr>
          <a:xfrm>
            <a:off x="1285875" y="6322219"/>
            <a:ext cx="400050" cy="400050"/>
            <a:chOff x="0" y="0"/>
            <a:chExt cx="533400" cy="533400"/>
          </a:xfrm>
        </p:grpSpPr>
        <p:sp>
          <p:nvSpPr>
            <p:cNvPr id="24" name="Freeform 24" descr="image.png"/>
            <p:cNvSpPr/>
            <p:nvPr/>
          </p:nvSpPr>
          <p:spPr>
            <a:xfrm>
              <a:off x="0" y="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blipFill>
              <a:blip r:embed="rId7"/>
              <a:stretch>
                <a:fillRect b="-3571"/>
              </a:stretch>
            </a:blipFill>
          </p:spPr>
          <p:txBody>
            <a:bodyPr/>
            <a:lstStyle/>
            <a:p>
              <a:endParaRPr lang="ru-KZ"/>
            </a:p>
          </p:txBody>
        </p:sp>
      </p:grpSp>
      <p:sp>
        <p:nvSpPr>
          <p:cNvPr id="25" name="TextBox 25"/>
          <p:cNvSpPr txBox="1"/>
          <p:nvPr/>
        </p:nvSpPr>
        <p:spPr>
          <a:xfrm>
            <a:off x="1285875" y="6917531"/>
            <a:ext cx="7650956" cy="285750"/>
          </a:xfrm>
          <a:prstGeom prst="rect">
            <a:avLst/>
          </a:prstGeom>
        </p:spPr>
        <p:txBody>
          <a:bodyPr lIns="0" tIns="0" rIns="0" bIns="0" rtlCol="0" anchor="t">
            <a:spAutoFit/>
          </a:bodyPr>
          <a:lstStyle/>
          <a:p>
            <a:pPr algn="l">
              <a:lnSpc>
                <a:spcPts val="2160"/>
              </a:lnSpc>
            </a:pPr>
            <a:r>
              <a:rPr lang="en-US" sz="1800" b="1">
                <a:solidFill>
                  <a:srgbClr val="2563EB"/>
                </a:solidFill>
                <a:latin typeface="Arimo Bold"/>
                <a:ea typeface="Arimo Bold"/>
                <a:cs typeface="Arimo Bold"/>
                <a:sym typeface="Arimo Bold"/>
              </a:rPr>
              <a:t>Kuan Amirlan : Logic Master</a:t>
            </a:r>
          </a:p>
        </p:txBody>
      </p:sp>
      <p:sp>
        <p:nvSpPr>
          <p:cNvPr id="26" name="TextBox 26"/>
          <p:cNvSpPr txBox="1"/>
          <p:nvPr/>
        </p:nvSpPr>
        <p:spPr>
          <a:xfrm>
            <a:off x="1285875" y="7336631"/>
            <a:ext cx="7286625" cy="8001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Developed library_service.py core rules, generators, and advanced functional filtering.</a:t>
            </a:r>
          </a:p>
        </p:txBody>
      </p:sp>
      <p:grpSp>
        <p:nvGrpSpPr>
          <p:cNvPr id="27" name="Group 27"/>
          <p:cNvGrpSpPr/>
          <p:nvPr/>
        </p:nvGrpSpPr>
        <p:grpSpPr>
          <a:xfrm>
            <a:off x="9715500" y="6322219"/>
            <a:ext cx="400050" cy="400050"/>
            <a:chOff x="0" y="0"/>
            <a:chExt cx="533400" cy="533400"/>
          </a:xfrm>
        </p:grpSpPr>
        <p:sp>
          <p:nvSpPr>
            <p:cNvPr id="28" name="Freeform 28" descr="image.png"/>
            <p:cNvSpPr/>
            <p:nvPr/>
          </p:nvSpPr>
          <p:spPr>
            <a:xfrm>
              <a:off x="0" y="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blipFill>
              <a:blip r:embed="rId8"/>
              <a:stretch>
                <a:fillRect b="-3571"/>
              </a:stretch>
            </a:blipFill>
          </p:spPr>
          <p:txBody>
            <a:bodyPr/>
            <a:lstStyle/>
            <a:p>
              <a:endParaRPr lang="ru-KZ"/>
            </a:p>
          </p:txBody>
        </p:sp>
      </p:grpSp>
      <p:sp>
        <p:nvSpPr>
          <p:cNvPr id="29" name="TextBox 29"/>
          <p:cNvSpPr txBox="1"/>
          <p:nvPr/>
        </p:nvSpPr>
        <p:spPr>
          <a:xfrm>
            <a:off x="9715500" y="6917531"/>
            <a:ext cx="7650956" cy="285750"/>
          </a:xfrm>
          <a:prstGeom prst="rect">
            <a:avLst/>
          </a:prstGeom>
        </p:spPr>
        <p:txBody>
          <a:bodyPr lIns="0" tIns="0" rIns="0" bIns="0" rtlCol="0" anchor="t">
            <a:spAutoFit/>
          </a:bodyPr>
          <a:lstStyle/>
          <a:p>
            <a:pPr algn="l">
              <a:lnSpc>
                <a:spcPts val="2160"/>
              </a:lnSpc>
            </a:pPr>
            <a:r>
              <a:rPr lang="en-US" sz="1800" b="1">
                <a:solidFill>
                  <a:srgbClr val="2563EB"/>
                </a:solidFill>
                <a:latin typeface="Arimo Bold"/>
                <a:ea typeface="Arimo Bold"/>
                <a:cs typeface="Arimo Bold"/>
                <a:sym typeface="Arimo Bold"/>
              </a:rPr>
              <a:t>Mansur Saginbek : Integration Director</a:t>
            </a:r>
          </a:p>
        </p:txBody>
      </p:sp>
      <p:sp>
        <p:nvSpPr>
          <p:cNvPr id="30" name="TextBox 30"/>
          <p:cNvSpPr txBox="1"/>
          <p:nvPr/>
        </p:nvSpPr>
        <p:spPr>
          <a:xfrm>
            <a:off x="9715500" y="7336631"/>
            <a:ext cx="7286625" cy="8001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Orchestrated the main.py loop, implemented decorators, and conducted unit testing.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ru-KZ"/>
            </a:p>
          </p:txBody>
        </p:sp>
      </p:grpSp>
      <p:sp>
        <p:nvSpPr>
          <p:cNvPr id="4" name="TextBox 4"/>
          <p:cNvSpPr txBox="1"/>
          <p:nvPr/>
        </p:nvSpPr>
        <p:spPr>
          <a:xfrm>
            <a:off x="1143000" y="838200"/>
            <a:ext cx="17102138" cy="661988"/>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DATA PERSISTENCE &amp; OPTIMIZATION</a:t>
            </a:r>
          </a:p>
        </p:txBody>
      </p:sp>
      <p:grpSp>
        <p:nvGrpSpPr>
          <p:cNvPr id="5" name="Group 5"/>
          <p:cNvGrpSpPr/>
          <p:nvPr/>
        </p:nvGrpSpPr>
        <p:grpSpPr>
          <a:xfrm>
            <a:off x="857250" y="857250"/>
            <a:ext cx="85725" cy="642938"/>
            <a:chOff x="0" y="0"/>
            <a:chExt cx="114300" cy="857250"/>
          </a:xfrm>
        </p:grpSpPr>
        <p:sp>
          <p:nvSpPr>
            <p:cNvPr id="6" name="Freeform 6"/>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grpSp>
        <p:nvGrpSpPr>
          <p:cNvPr id="7" name="Group 7"/>
          <p:cNvGrpSpPr/>
          <p:nvPr/>
        </p:nvGrpSpPr>
        <p:grpSpPr>
          <a:xfrm>
            <a:off x="725248" y="2671331"/>
            <a:ext cx="8968821" cy="5985793"/>
            <a:chOff x="0" y="0"/>
            <a:chExt cx="11958428" cy="7981057"/>
          </a:xfrm>
        </p:grpSpPr>
        <p:grpSp>
          <p:nvGrpSpPr>
            <p:cNvPr id="8" name="Group 8"/>
            <p:cNvGrpSpPr/>
            <p:nvPr/>
          </p:nvGrpSpPr>
          <p:grpSpPr>
            <a:xfrm>
              <a:off x="0" y="0"/>
              <a:ext cx="11958428" cy="7981057"/>
              <a:chOff x="0" y="0"/>
              <a:chExt cx="11958428" cy="7981057"/>
            </a:xfrm>
          </p:grpSpPr>
          <p:sp>
            <p:nvSpPr>
              <p:cNvPr id="9" name="Freeform 9" descr="image.png"/>
              <p:cNvSpPr/>
              <p:nvPr/>
            </p:nvSpPr>
            <p:spPr>
              <a:xfrm>
                <a:off x="0" y="0"/>
                <a:ext cx="11958428" cy="7981057"/>
              </a:xfrm>
              <a:custGeom>
                <a:avLst/>
                <a:gdLst/>
                <a:ahLst/>
                <a:cxnLst/>
                <a:rect l="l" t="t" r="r" b="b"/>
                <a:pathLst>
                  <a:path w="11958428" h="7981057">
                    <a:moveTo>
                      <a:pt x="453182" y="0"/>
                    </a:moveTo>
                    <a:lnTo>
                      <a:pt x="11505247" y="0"/>
                    </a:lnTo>
                    <a:cubicBezTo>
                      <a:pt x="11625438" y="0"/>
                      <a:pt x="11740706" y="47746"/>
                      <a:pt x="11825694" y="132734"/>
                    </a:cubicBezTo>
                    <a:cubicBezTo>
                      <a:pt x="11910682" y="217722"/>
                      <a:pt x="11958428" y="332991"/>
                      <a:pt x="11958428" y="453182"/>
                    </a:cubicBezTo>
                    <a:lnTo>
                      <a:pt x="11958428" y="7527875"/>
                    </a:lnTo>
                    <a:cubicBezTo>
                      <a:pt x="11958428" y="7648067"/>
                      <a:pt x="11910682" y="7763335"/>
                      <a:pt x="11825694" y="7848323"/>
                    </a:cubicBezTo>
                    <a:cubicBezTo>
                      <a:pt x="11740706" y="7933311"/>
                      <a:pt x="11625438" y="7981057"/>
                      <a:pt x="11505247" y="7981057"/>
                    </a:cubicBezTo>
                    <a:lnTo>
                      <a:pt x="453182" y="7981057"/>
                    </a:lnTo>
                    <a:cubicBezTo>
                      <a:pt x="332991" y="7981057"/>
                      <a:pt x="217722" y="7933311"/>
                      <a:pt x="132734" y="7848323"/>
                    </a:cubicBezTo>
                    <a:cubicBezTo>
                      <a:pt x="47746" y="7763335"/>
                      <a:pt x="0" y="7648067"/>
                      <a:pt x="0" y="7527875"/>
                    </a:cubicBezTo>
                    <a:lnTo>
                      <a:pt x="0" y="453182"/>
                    </a:lnTo>
                    <a:cubicBezTo>
                      <a:pt x="0" y="332991"/>
                      <a:pt x="47746" y="217722"/>
                      <a:pt x="132734" y="132734"/>
                    </a:cubicBezTo>
                    <a:cubicBezTo>
                      <a:pt x="217722" y="47746"/>
                      <a:pt x="332991" y="0"/>
                      <a:pt x="453182" y="0"/>
                    </a:cubicBezTo>
                    <a:close/>
                  </a:path>
                </a:pathLst>
              </a:custGeom>
              <a:blipFill>
                <a:blip r:embed="rId4"/>
                <a:stretch>
                  <a:fillRect t="-502" b="-836"/>
                </a:stretch>
              </a:blipFill>
            </p:spPr>
            <p:txBody>
              <a:bodyPr/>
              <a:lstStyle/>
              <a:p>
                <a:endParaRPr lang="ru-KZ"/>
              </a:p>
            </p:txBody>
          </p:sp>
        </p:grpSp>
        <p:sp>
          <p:nvSpPr>
            <p:cNvPr id="10" name="TextBox 10"/>
            <p:cNvSpPr txBox="1"/>
            <p:nvPr/>
          </p:nvSpPr>
          <p:spPr>
            <a:xfrm>
              <a:off x="645214" y="793234"/>
              <a:ext cx="9803401" cy="428625"/>
            </a:xfrm>
            <a:prstGeom prst="rect">
              <a:avLst/>
            </a:prstGeom>
          </p:spPr>
          <p:txBody>
            <a:bodyPr lIns="0" tIns="0" rIns="0" bIns="0" rtlCol="0" anchor="t">
              <a:spAutoFit/>
            </a:bodyPr>
            <a:lstStyle/>
            <a:p>
              <a:pPr algn="l">
                <a:lnSpc>
                  <a:spcPts val="2527"/>
                </a:lnSpc>
              </a:pPr>
              <a:r>
                <a:rPr lang="en-US" sz="2106" b="1">
                  <a:solidFill>
                    <a:srgbClr val="F8FAFC"/>
                  </a:solidFill>
                  <a:latin typeface="Arimo Bold"/>
                  <a:ea typeface="Arimo Bold"/>
                  <a:cs typeface="Arimo Bold"/>
                  <a:sym typeface="Arimo Bold"/>
                </a:rPr>
                <a:t>Assemgazy Olzhas : Storage Layer and Optimization </a:t>
              </a:r>
            </a:p>
          </p:txBody>
        </p:sp>
        <p:sp>
          <p:nvSpPr>
            <p:cNvPr id="11" name="TextBox 11"/>
            <p:cNvSpPr txBox="1"/>
            <p:nvPr/>
          </p:nvSpPr>
          <p:spPr>
            <a:xfrm>
              <a:off x="645214" y="1850509"/>
              <a:ext cx="10668000" cy="2486787"/>
            </a:xfrm>
            <a:prstGeom prst="rect">
              <a:avLst/>
            </a:prstGeom>
          </p:spPr>
          <p:txBody>
            <a:bodyPr lIns="0" tIns="0" rIns="0" bIns="0" rtlCol="0" anchor="t">
              <a:spAutoFit/>
            </a:bodyPr>
            <a:lstStyle/>
            <a:p>
              <a:pPr algn="l">
                <a:lnSpc>
                  <a:spcPts val="3887"/>
                </a:lnSpc>
              </a:pPr>
              <a:r>
                <a:rPr lang="en-US" sz="2025">
                  <a:solidFill>
                    <a:srgbClr val="F8FAFC"/>
                  </a:solidFill>
                  <a:latin typeface="Inter"/>
                  <a:ea typeface="Inter"/>
                  <a:cs typeface="Inter"/>
                  <a:sym typeface="Inter"/>
                </a:rPr>
                <a:t>The system transforms JSON lists into dictionaries using unique IDs as keys. This ensures that book and user lookups do not slow down as the database grows, similar logic was used for custom command find book by author </a:t>
              </a:r>
            </a:p>
          </p:txBody>
        </p:sp>
        <p:sp>
          <p:nvSpPr>
            <p:cNvPr id="12" name="TextBox 12"/>
            <p:cNvSpPr txBox="1"/>
            <p:nvPr/>
          </p:nvSpPr>
          <p:spPr>
            <a:xfrm>
              <a:off x="1311964" y="4965946"/>
              <a:ext cx="10001250" cy="691451"/>
            </a:xfrm>
            <a:prstGeom prst="rect">
              <a:avLst/>
            </a:prstGeom>
          </p:spPr>
          <p:txBody>
            <a:bodyPr lIns="0" tIns="0" rIns="0" bIns="0" rtlCol="0" anchor="t">
              <a:spAutoFit/>
            </a:bodyPr>
            <a:lstStyle/>
            <a:p>
              <a:pPr algn="l">
                <a:lnSpc>
                  <a:spcPts val="3887"/>
                </a:lnSpc>
              </a:pPr>
              <a:r>
                <a:rPr lang="en-US" sz="2025">
                  <a:solidFill>
                    <a:srgbClr val="F8FAFC"/>
                  </a:solidFill>
                  <a:latin typeface="Inter"/>
                  <a:ea typeface="Inter"/>
                  <a:cs typeface="Inter"/>
                  <a:sym typeface="Inter"/>
                </a:rPr>
                <a:t>Structured JSON format for Catalog and Users.</a:t>
              </a:r>
            </a:p>
          </p:txBody>
        </p:sp>
        <p:sp>
          <p:nvSpPr>
            <p:cNvPr id="13" name="TextBox 13"/>
            <p:cNvSpPr txBox="1"/>
            <p:nvPr/>
          </p:nvSpPr>
          <p:spPr>
            <a:xfrm>
              <a:off x="1311964" y="5800272"/>
              <a:ext cx="10001250" cy="691451"/>
            </a:xfrm>
            <a:prstGeom prst="rect">
              <a:avLst/>
            </a:prstGeom>
          </p:spPr>
          <p:txBody>
            <a:bodyPr lIns="0" tIns="0" rIns="0" bIns="0" rtlCol="0" anchor="t">
              <a:spAutoFit/>
            </a:bodyPr>
            <a:lstStyle/>
            <a:p>
              <a:pPr algn="l">
                <a:lnSpc>
                  <a:spcPts val="3887"/>
                </a:lnSpc>
              </a:pPr>
              <a:r>
                <a:rPr lang="en-US" sz="2025">
                  <a:solidFill>
                    <a:srgbClr val="F8FAFC"/>
                  </a:solidFill>
                  <a:latin typeface="Inter"/>
                  <a:ea typeface="Inter"/>
                  <a:cs typeface="Inter"/>
                  <a:sym typeface="Inter"/>
                </a:rPr>
                <a:t>Exception handling for missing data files.</a:t>
              </a:r>
            </a:p>
          </p:txBody>
        </p:sp>
        <p:sp>
          <p:nvSpPr>
            <p:cNvPr id="14" name="TextBox 14"/>
            <p:cNvSpPr txBox="1"/>
            <p:nvPr/>
          </p:nvSpPr>
          <p:spPr>
            <a:xfrm>
              <a:off x="1311964" y="6634611"/>
              <a:ext cx="10001250" cy="543687"/>
            </a:xfrm>
            <a:prstGeom prst="rect">
              <a:avLst/>
            </a:prstGeom>
          </p:spPr>
          <p:txBody>
            <a:bodyPr lIns="0" tIns="0" rIns="0" bIns="0" rtlCol="0" anchor="t">
              <a:spAutoFit/>
            </a:bodyPr>
            <a:lstStyle/>
            <a:p>
              <a:pPr algn="l">
                <a:lnSpc>
                  <a:spcPts val="3887"/>
                </a:lnSpc>
              </a:pPr>
              <a:r>
                <a:rPr lang="en-US" sz="2025">
                  <a:solidFill>
                    <a:srgbClr val="F8FAFC"/>
                  </a:solidFill>
                  <a:latin typeface="Inter"/>
                  <a:ea typeface="Inter"/>
                  <a:cs typeface="Inter"/>
                  <a:sym typeface="Inter"/>
                </a:rPr>
                <a:t>Memory-efficient data mapping.</a:t>
              </a:r>
            </a:p>
          </p:txBody>
        </p:sp>
        <p:grpSp>
          <p:nvGrpSpPr>
            <p:cNvPr id="15" name="Group 15"/>
            <p:cNvGrpSpPr/>
            <p:nvPr/>
          </p:nvGrpSpPr>
          <p:grpSpPr>
            <a:xfrm>
              <a:off x="645214" y="5146921"/>
              <a:ext cx="304800" cy="361950"/>
              <a:chOff x="0" y="0"/>
              <a:chExt cx="304800" cy="361950"/>
            </a:xfrm>
          </p:grpSpPr>
          <p:sp>
            <p:nvSpPr>
              <p:cNvPr id="16" name="Freeform 16"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grpSp>
          <p:nvGrpSpPr>
            <p:cNvPr id="17" name="Group 17"/>
            <p:cNvGrpSpPr/>
            <p:nvPr/>
          </p:nvGrpSpPr>
          <p:grpSpPr>
            <a:xfrm>
              <a:off x="645214" y="5981247"/>
              <a:ext cx="304800" cy="361950"/>
              <a:chOff x="0" y="0"/>
              <a:chExt cx="304800" cy="361950"/>
            </a:xfrm>
          </p:grpSpPr>
          <p:sp>
            <p:nvSpPr>
              <p:cNvPr id="18" name="Freeform 18"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grpSp>
          <p:nvGrpSpPr>
            <p:cNvPr id="19" name="Group 19"/>
            <p:cNvGrpSpPr/>
            <p:nvPr/>
          </p:nvGrpSpPr>
          <p:grpSpPr>
            <a:xfrm>
              <a:off x="645214" y="6815586"/>
              <a:ext cx="304800" cy="361950"/>
              <a:chOff x="0" y="0"/>
              <a:chExt cx="304800" cy="361950"/>
            </a:xfrm>
          </p:grpSpPr>
          <p:sp>
            <p:nvSpPr>
              <p:cNvPr id="20" name="Freeform 20"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grpSp>
      <p:sp>
        <p:nvSpPr>
          <p:cNvPr id="21" name="TextBox 21"/>
          <p:cNvSpPr txBox="1"/>
          <p:nvPr/>
        </p:nvSpPr>
        <p:spPr>
          <a:xfrm>
            <a:off x="12128640" y="3593306"/>
            <a:ext cx="5702160" cy="3077766"/>
          </a:xfrm>
          <a:prstGeom prst="rect">
            <a:avLst/>
          </a:prstGeom>
        </p:spPr>
        <p:txBody>
          <a:bodyPr wrap="square" lIns="0" tIns="0" rIns="0" bIns="0" rtlCol="0" anchor="t">
            <a:spAutoFit/>
          </a:bodyPr>
          <a:lstStyle/>
          <a:p>
            <a:pPr algn="l">
              <a:lnSpc>
                <a:spcPts val="24000"/>
              </a:lnSpc>
            </a:pPr>
            <a:r>
              <a:rPr lang="en-US" sz="20000" i="1" dirty="0">
                <a:solidFill>
                  <a:srgbClr val="1E293B"/>
                </a:solidFill>
                <a:latin typeface="Lora Italics"/>
                <a:ea typeface="Lora Italics"/>
                <a:cs typeface="Lora Italics"/>
                <a:sym typeface="Lora Italics"/>
              </a:rPr>
              <a:t>O(1)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7250" y="3746230"/>
            <a:ext cx="5333924" cy="2911526"/>
            <a:chOff x="0" y="0"/>
            <a:chExt cx="7111898" cy="3882034"/>
          </a:xfrm>
        </p:grpSpPr>
        <p:sp>
          <p:nvSpPr>
            <p:cNvPr id="3" name="Freeform 3" descr="image.png"/>
            <p:cNvSpPr/>
            <p:nvPr/>
          </p:nvSpPr>
          <p:spPr>
            <a:xfrm>
              <a:off x="0" y="0"/>
              <a:ext cx="7111873" cy="3882009"/>
            </a:xfrm>
            <a:custGeom>
              <a:avLst/>
              <a:gdLst/>
              <a:ahLst/>
              <a:cxnLst/>
              <a:rect l="l" t="t" r="r" b="b"/>
              <a:pathLst>
                <a:path w="7111873" h="3882009">
                  <a:moveTo>
                    <a:pt x="0" y="0"/>
                  </a:moveTo>
                  <a:lnTo>
                    <a:pt x="7111873" y="0"/>
                  </a:lnTo>
                  <a:lnTo>
                    <a:pt x="7111873" y="3882009"/>
                  </a:lnTo>
                  <a:lnTo>
                    <a:pt x="0" y="3882009"/>
                  </a:lnTo>
                  <a:lnTo>
                    <a:pt x="0" y="0"/>
                  </a:lnTo>
                  <a:close/>
                </a:path>
              </a:pathLst>
            </a:custGeom>
            <a:blipFill>
              <a:blip r:embed="rId3"/>
              <a:stretch>
                <a:fillRect r="-72"/>
              </a:stretch>
            </a:blipFill>
          </p:spPr>
          <p:txBody>
            <a:bodyPr/>
            <a:lstStyle/>
            <a:p>
              <a:endParaRPr lang="ru-KZ"/>
            </a:p>
          </p:txBody>
        </p:sp>
      </p:grpSp>
      <p:grpSp>
        <p:nvGrpSpPr>
          <p:cNvPr id="4" name="Group 4"/>
          <p:cNvGrpSpPr/>
          <p:nvPr/>
        </p:nvGrpSpPr>
        <p:grpSpPr>
          <a:xfrm>
            <a:off x="6476924" y="3746230"/>
            <a:ext cx="5333924" cy="2911526"/>
            <a:chOff x="0" y="0"/>
            <a:chExt cx="7111898" cy="3882034"/>
          </a:xfrm>
        </p:grpSpPr>
        <p:sp>
          <p:nvSpPr>
            <p:cNvPr id="5" name="Freeform 5" descr="image.png"/>
            <p:cNvSpPr/>
            <p:nvPr/>
          </p:nvSpPr>
          <p:spPr>
            <a:xfrm>
              <a:off x="0" y="0"/>
              <a:ext cx="7111873" cy="3882009"/>
            </a:xfrm>
            <a:custGeom>
              <a:avLst/>
              <a:gdLst/>
              <a:ahLst/>
              <a:cxnLst/>
              <a:rect l="l" t="t" r="r" b="b"/>
              <a:pathLst>
                <a:path w="7111873" h="3882009">
                  <a:moveTo>
                    <a:pt x="0" y="0"/>
                  </a:moveTo>
                  <a:lnTo>
                    <a:pt x="7111873" y="0"/>
                  </a:lnTo>
                  <a:lnTo>
                    <a:pt x="7111873" y="3882009"/>
                  </a:lnTo>
                  <a:lnTo>
                    <a:pt x="0" y="3882009"/>
                  </a:lnTo>
                  <a:lnTo>
                    <a:pt x="0" y="0"/>
                  </a:lnTo>
                  <a:close/>
                </a:path>
              </a:pathLst>
            </a:custGeom>
            <a:blipFill>
              <a:blip r:embed="rId4"/>
              <a:stretch>
                <a:fillRect r="-72"/>
              </a:stretch>
            </a:blipFill>
          </p:spPr>
          <p:txBody>
            <a:bodyPr/>
            <a:lstStyle/>
            <a:p>
              <a:endParaRPr lang="ru-KZ"/>
            </a:p>
          </p:txBody>
        </p:sp>
      </p:grpSp>
      <p:grpSp>
        <p:nvGrpSpPr>
          <p:cNvPr id="6" name="Group 6"/>
          <p:cNvGrpSpPr/>
          <p:nvPr/>
        </p:nvGrpSpPr>
        <p:grpSpPr>
          <a:xfrm>
            <a:off x="12096598" y="3746230"/>
            <a:ext cx="5334152" cy="2911526"/>
            <a:chOff x="0" y="0"/>
            <a:chExt cx="7112203" cy="3882034"/>
          </a:xfrm>
        </p:grpSpPr>
        <p:sp>
          <p:nvSpPr>
            <p:cNvPr id="7" name="Freeform 7" descr="image.png"/>
            <p:cNvSpPr/>
            <p:nvPr/>
          </p:nvSpPr>
          <p:spPr>
            <a:xfrm>
              <a:off x="0" y="0"/>
              <a:ext cx="7112254" cy="3882009"/>
            </a:xfrm>
            <a:custGeom>
              <a:avLst/>
              <a:gdLst/>
              <a:ahLst/>
              <a:cxnLst/>
              <a:rect l="l" t="t" r="r" b="b"/>
              <a:pathLst>
                <a:path w="7112254" h="3882009">
                  <a:moveTo>
                    <a:pt x="0" y="0"/>
                  </a:moveTo>
                  <a:lnTo>
                    <a:pt x="7112254" y="0"/>
                  </a:lnTo>
                  <a:lnTo>
                    <a:pt x="7112254" y="3882009"/>
                  </a:lnTo>
                  <a:lnTo>
                    <a:pt x="0" y="3882009"/>
                  </a:lnTo>
                  <a:lnTo>
                    <a:pt x="0" y="0"/>
                  </a:lnTo>
                  <a:close/>
                </a:path>
              </a:pathLst>
            </a:custGeom>
            <a:blipFill>
              <a:blip r:embed="rId5"/>
              <a:stretch>
                <a:fillRect r="-67"/>
              </a:stretch>
            </a:blipFill>
          </p:spPr>
          <p:txBody>
            <a:bodyPr/>
            <a:lstStyle/>
            <a:p>
              <a:endParaRPr lang="ru-KZ"/>
            </a:p>
          </p:txBody>
        </p:sp>
      </p:grpSp>
      <p:sp>
        <p:nvSpPr>
          <p:cNvPr id="8" name="TextBox 8"/>
          <p:cNvSpPr txBox="1"/>
          <p:nvPr/>
        </p:nvSpPr>
        <p:spPr>
          <a:xfrm>
            <a:off x="1143000" y="838200"/>
            <a:ext cx="17102138" cy="661988"/>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OBJECT-ORIENTED PROGRAMMING MODELS</a:t>
            </a:r>
          </a:p>
        </p:txBody>
      </p:sp>
      <p:grpSp>
        <p:nvGrpSpPr>
          <p:cNvPr id="9" name="Group 9"/>
          <p:cNvGrpSpPr/>
          <p:nvPr/>
        </p:nvGrpSpPr>
        <p:grpSpPr>
          <a:xfrm>
            <a:off x="857250" y="857250"/>
            <a:ext cx="85725" cy="642938"/>
            <a:chOff x="0" y="0"/>
            <a:chExt cx="114300" cy="857250"/>
          </a:xfrm>
        </p:grpSpPr>
        <p:sp>
          <p:nvSpPr>
            <p:cNvPr id="10" name="Freeform 10"/>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sp>
        <p:nvSpPr>
          <p:cNvPr id="11" name="TextBox 11"/>
          <p:cNvSpPr txBox="1"/>
          <p:nvPr/>
        </p:nvSpPr>
        <p:spPr>
          <a:xfrm>
            <a:off x="857250" y="6943506"/>
            <a:ext cx="16573500" cy="443484"/>
          </a:xfrm>
          <a:prstGeom prst="rect">
            <a:avLst/>
          </a:prstGeom>
        </p:spPr>
        <p:txBody>
          <a:bodyPr lIns="0" tIns="0" rIns="0" bIns="0" rtlCol="0" anchor="t">
            <a:spAutoFit/>
          </a:bodyPr>
          <a:lstStyle/>
          <a:p>
            <a:pPr algn="ctr">
              <a:lnSpc>
                <a:spcPts val="3887"/>
              </a:lnSpc>
            </a:pPr>
            <a:r>
              <a:rPr lang="en-US" sz="2025" i="1">
                <a:solidFill>
                  <a:srgbClr val="475569"/>
                </a:solidFill>
                <a:latin typeface="Inter Italics"/>
                <a:ea typeface="Inter Italics"/>
                <a:cs typeface="Inter Italics"/>
                <a:sym typeface="Inter Italics"/>
              </a:rPr>
              <a:t>Architecture by Miras Tulikbay: Ensuring code reusability and strict data boundaries.</a:t>
            </a:r>
          </a:p>
        </p:txBody>
      </p:sp>
      <p:grpSp>
        <p:nvGrpSpPr>
          <p:cNvPr id="12" name="Group 12"/>
          <p:cNvGrpSpPr/>
          <p:nvPr/>
        </p:nvGrpSpPr>
        <p:grpSpPr>
          <a:xfrm>
            <a:off x="3345504" y="4174855"/>
            <a:ext cx="357188" cy="400050"/>
            <a:chOff x="0" y="0"/>
            <a:chExt cx="476250" cy="533400"/>
          </a:xfrm>
        </p:grpSpPr>
        <p:sp>
          <p:nvSpPr>
            <p:cNvPr id="13" name="Freeform 13" descr="image.png"/>
            <p:cNvSpPr/>
            <p:nvPr/>
          </p:nvSpPr>
          <p:spPr>
            <a:xfrm>
              <a:off x="0" y="0"/>
              <a:ext cx="476250" cy="533400"/>
            </a:xfrm>
            <a:custGeom>
              <a:avLst/>
              <a:gdLst/>
              <a:ahLst/>
              <a:cxnLst/>
              <a:rect l="l" t="t" r="r" b="b"/>
              <a:pathLst>
                <a:path w="476250" h="533400">
                  <a:moveTo>
                    <a:pt x="0" y="0"/>
                  </a:moveTo>
                  <a:lnTo>
                    <a:pt x="476250" y="0"/>
                  </a:lnTo>
                  <a:lnTo>
                    <a:pt x="476250" y="533400"/>
                  </a:lnTo>
                  <a:lnTo>
                    <a:pt x="0" y="533400"/>
                  </a:lnTo>
                  <a:lnTo>
                    <a:pt x="0" y="0"/>
                  </a:lnTo>
                  <a:close/>
                </a:path>
              </a:pathLst>
            </a:custGeom>
            <a:blipFill>
              <a:blip r:embed="rId6"/>
              <a:stretch>
                <a:fillRect r="-413"/>
              </a:stretch>
            </a:blipFill>
          </p:spPr>
          <p:txBody>
            <a:bodyPr/>
            <a:lstStyle/>
            <a:p>
              <a:endParaRPr lang="ru-KZ"/>
            </a:p>
          </p:txBody>
        </p:sp>
      </p:grpSp>
      <p:sp>
        <p:nvSpPr>
          <p:cNvPr id="14" name="TextBox 14"/>
          <p:cNvSpPr txBox="1"/>
          <p:nvPr/>
        </p:nvSpPr>
        <p:spPr>
          <a:xfrm>
            <a:off x="1173956" y="4779693"/>
            <a:ext cx="4700511" cy="338137"/>
          </a:xfrm>
          <a:prstGeom prst="rect">
            <a:avLst/>
          </a:prstGeom>
        </p:spPr>
        <p:txBody>
          <a:bodyPr lIns="0" tIns="0" rIns="0" bIns="0" rtlCol="0" anchor="t">
            <a:spAutoFit/>
          </a:bodyPr>
          <a:lstStyle/>
          <a:p>
            <a:pPr algn="ctr">
              <a:lnSpc>
                <a:spcPts val="2527"/>
              </a:lnSpc>
            </a:pPr>
            <a:r>
              <a:rPr lang="en-US" sz="2106" b="1">
                <a:solidFill>
                  <a:srgbClr val="1E293B"/>
                </a:solidFill>
                <a:latin typeface="Arimo Bold"/>
                <a:ea typeface="Arimo Bold"/>
                <a:cs typeface="Arimo Bold"/>
                <a:sym typeface="Arimo Bold"/>
              </a:rPr>
              <a:t>Encapsulation</a:t>
            </a:r>
          </a:p>
        </p:txBody>
      </p:sp>
      <p:sp>
        <p:nvSpPr>
          <p:cNvPr id="15" name="TextBox 15"/>
          <p:cNvSpPr txBox="1"/>
          <p:nvPr/>
        </p:nvSpPr>
        <p:spPr>
          <a:xfrm>
            <a:off x="1285875" y="5203555"/>
            <a:ext cx="4476674" cy="768401"/>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Private attributes for __is_available to protect data integrity via setters/getters.</a:t>
            </a:r>
          </a:p>
        </p:txBody>
      </p:sp>
      <p:grpSp>
        <p:nvGrpSpPr>
          <p:cNvPr id="16" name="Group 16"/>
          <p:cNvGrpSpPr/>
          <p:nvPr/>
        </p:nvGrpSpPr>
        <p:grpSpPr>
          <a:xfrm>
            <a:off x="8893740" y="4174855"/>
            <a:ext cx="500062" cy="400050"/>
            <a:chOff x="0" y="0"/>
            <a:chExt cx="666750" cy="533400"/>
          </a:xfrm>
        </p:grpSpPr>
        <p:sp>
          <p:nvSpPr>
            <p:cNvPr id="17" name="Freeform 17" descr="image.png"/>
            <p:cNvSpPr/>
            <p:nvPr/>
          </p:nvSpPr>
          <p:spPr>
            <a:xfrm>
              <a:off x="0" y="0"/>
              <a:ext cx="666750" cy="533400"/>
            </a:xfrm>
            <a:custGeom>
              <a:avLst/>
              <a:gdLst/>
              <a:ahLst/>
              <a:cxnLst/>
              <a:rect l="l" t="t" r="r" b="b"/>
              <a:pathLst>
                <a:path w="666750" h="533400">
                  <a:moveTo>
                    <a:pt x="0" y="0"/>
                  </a:moveTo>
                  <a:lnTo>
                    <a:pt x="666750" y="0"/>
                  </a:lnTo>
                  <a:lnTo>
                    <a:pt x="666750" y="533400"/>
                  </a:lnTo>
                  <a:lnTo>
                    <a:pt x="0" y="533400"/>
                  </a:lnTo>
                  <a:lnTo>
                    <a:pt x="0" y="0"/>
                  </a:lnTo>
                  <a:close/>
                </a:path>
              </a:pathLst>
            </a:custGeom>
            <a:blipFill>
              <a:blip r:embed="rId7"/>
              <a:stretch>
                <a:fillRect b="-695"/>
              </a:stretch>
            </a:blipFill>
          </p:spPr>
          <p:txBody>
            <a:bodyPr/>
            <a:lstStyle/>
            <a:p>
              <a:endParaRPr lang="ru-KZ"/>
            </a:p>
          </p:txBody>
        </p:sp>
      </p:grpSp>
      <p:sp>
        <p:nvSpPr>
          <p:cNvPr id="18" name="TextBox 18"/>
          <p:cNvSpPr txBox="1"/>
          <p:nvPr/>
        </p:nvSpPr>
        <p:spPr>
          <a:xfrm>
            <a:off x="6793630" y="4779693"/>
            <a:ext cx="4700511" cy="338137"/>
          </a:xfrm>
          <a:prstGeom prst="rect">
            <a:avLst/>
          </a:prstGeom>
        </p:spPr>
        <p:txBody>
          <a:bodyPr lIns="0" tIns="0" rIns="0" bIns="0" rtlCol="0" anchor="t">
            <a:spAutoFit/>
          </a:bodyPr>
          <a:lstStyle/>
          <a:p>
            <a:pPr algn="ctr">
              <a:lnSpc>
                <a:spcPts val="2527"/>
              </a:lnSpc>
            </a:pPr>
            <a:r>
              <a:rPr lang="en-US" sz="2106" b="1">
                <a:solidFill>
                  <a:srgbClr val="1E293B"/>
                </a:solidFill>
                <a:latin typeface="Arimo Bold"/>
                <a:ea typeface="Arimo Bold"/>
                <a:cs typeface="Arimo Bold"/>
                <a:sym typeface="Arimo Bold"/>
              </a:rPr>
              <a:t>Inheritance</a:t>
            </a:r>
          </a:p>
        </p:txBody>
      </p:sp>
      <p:sp>
        <p:nvSpPr>
          <p:cNvPr id="19" name="TextBox 19"/>
          <p:cNvSpPr txBox="1"/>
          <p:nvPr/>
        </p:nvSpPr>
        <p:spPr>
          <a:xfrm>
            <a:off x="6905549" y="5203555"/>
            <a:ext cx="4476674" cy="768401"/>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User class inherits from Person, reusing core identity properties.</a:t>
            </a:r>
          </a:p>
        </p:txBody>
      </p:sp>
      <p:grpSp>
        <p:nvGrpSpPr>
          <p:cNvPr id="20" name="Group 20"/>
          <p:cNvGrpSpPr/>
          <p:nvPr/>
        </p:nvGrpSpPr>
        <p:grpSpPr>
          <a:xfrm>
            <a:off x="14563649" y="4174855"/>
            <a:ext cx="400050" cy="400050"/>
            <a:chOff x="0" y="0"/>
            <a:chExt cx="533400" cy="533400"/>
          </a:xfrm>
        </p:grpSpPr>
        <p:sp>
          <p:nvSpPr>
            <p:cNvPr id="21" name="Freeform 21" descr="image.png"/>
            <p:cNvSpPr/>
            <p:nvPr/>
          </p:nvSpPr>
          <p:spPr>
            <a:xfrm>
              <a:off x="0" y="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blipFill>
              <a:blip r:embed="rId8"/>
              <a:stretch>
                <a:fillRect/>
              </a:stretch>
            </a:blipFill>
          </p:spPr>
          <p:txBody>
            <a:bodyPr/>
            <a:lstStyle/>
            <a:p>
              <a:endParaRPr lang="ru-KZ"/>
            </a:p>
          </p:txBody>
        </p:sp>
      </p:grpSp>
      <p:sp>
        <p:nvSpPr>
          <p:cNvPr id="22" name="TextBox 22"/>
          <p:cNvSpPr txBox="1"/>
          <p:nvPr/>
        </p:nvSpPr>
        <p:spPr>
          <a:xfrm>
            <a:off x="12413304" y="4779693"/>
            <a:ext cx="4700740" cy="338137"/>
          </a:xfrm>
          <a:prstGeom prst="rect">
            <a:avLst/>
          </a:prstGeom>
        </p:spPr>
        <p:txBody>
          <a:bodyPr lIns="0" tIns="0" rIns="0" bIns="0" rtlCol="0" anchor="t">
            <a:spAutoFit/>
          </a:bodyPr>
          <a:lstStyle/>
          <a:p>
            <a:pPr algn="ctr">
              <a:lnSpc>
                <a:spcPts val="2527"/>
              </a:lnSpc>
            </a:pPr>
            <a:r>
              <a:rPr lang="en-US" sz="2106" b="1">
                <a:solidFill>
                  <a:srgbClr val="1E293B"/>
                </a:solidFill>
                <a:latin typeface="Arimo Bold"/>
                <a:ea typeface="Arimo Bold"/>
                <a:cs typeface="Arimo Bold"/>
                <a:sym typeface="Arimo Bold"/>
              </a:rPr>
              <a:t>Polymorphism</a:t>
            </a:r>
          </a:p>
        </p:txBody>
      </p:sp>
      <p:sp>
        <p:nvSpPr>
          <p:cNvPr id="23" name="TextBox 23"/>
          <p:cNvSpPr txBox="1"/>
          <p:nvPr/>
        </p:nvSpPr>
        <p:spPr>
          <a:xfrm>
            <a:off x="12525223" y="5203555"/>
            <a:ext cx="4476902" cy="768401"/>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Overriding get_role() across different user types for flexible processing.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43000" y="838200"/>
            <a:ext cx="7344073" cy="628650"/>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PYTHON FEATURES &amp; LOGIC</a:t>
            </a:r>
          </a:p>
        </p:txBody>
      </p:sp>
      <p:grpSp>
        <p:nvGrpSpPr>
          <p:cNvPr id="3" name="Group 3"/>
          <p:cNvGrpSpPr/>
          <p:nvPr/>
        </p:nvGrpSpPr>
        <p:grpSpPr>
          <a:xfrm>
            <a:off x="857250" y="857250"/>
            <a:ext cx="85725" cy="642938"/>
            <a:chOff x="0" y="0"/>
            <a:chExt cx="114300" cy="857250"/>
          </a:xfrm>
        </p:grpSpPr>
        <p:sp>
          <p:nvSpPr>
            <p:cNvPr id="4" name="Freeform 4"/>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graphicFrame>
        <p:nvGraphicFramePr>
          <p:cNvPr id="5" name="Table 5"/>
          <p:cNvGraphicFramePr>
            <a:graphicFrameLocks noGrp="1"/>
          </p:cNvGraphicFramePr>
          <p:nvPr/>
        </p:nvGraphicFramePr>
        <p:xfrm>
          <a:off x="1947946" y="5829300"/>
          <a:ext cx="14392108" cy="3429000"/>
        </p:xfrm>
        <a:graphic>
          <a:graphicData uri="http://schemas.openxmlformats.org/drawingml/2006/table">
            <a:tbl>
              <a:tblPr/>
              <a:tblGrid>
                <a:gridCol w="3029736">
                  <a:extLst>
                    <a:ext uri="{9D8B030D-6E8A-4147-A177-3AD203B41FA5}">
                      <a16:colId xmlns:a16="http://schemas.microsoft.com/office/drawing/2014/main" val="20000"/>
                    </a:ext>
                  </a:extLst>
                </a:gridCol>
                <a:gridCol w="6240224">
                  <a:extLst>
                    <a:ext uri="{9D8B030D-6E8A-4147-A177-3AD203B41FA5}">
                      <a16:colId xmlns:a16="http://schemas.microsoft.com/office/drawing/2014/main" val="20001"/>
                    </a:ext>
                  </a:extLst>
                </a:gridCol>
                <a:gridCol w="5122148">
                  <a:extLst>
                    <a:ext uri="{9D8B030D-6E8A-4147-A177-3AD203B41FA5}">
                      <a16:colId xmlns:a16="http://schemas.microsoft.com/office/drawing/2014/main" val="20002"/>
                    </a:ext>
                  </a:extLst>
                </a:gridCol>
              </a:tblGrid>
              <a:tr h="857250">
                <a:tc>
                  <a:txBody>
                    <a:bodyPr/>
                    <a:lstStyle/>
                    <a:p>
                      <a:pPr algn="ctr">
                        <a:lnSpc>
                          <a:spcPts val="2279"/>
                        </a:lnSpc>
                        <a:defRPr/>
                      </a:pPr>
                      <a:r>
                        <a:rPr lang="en-US" sz="1899" b="1">
                          <a:solidFill>
                            <a:srgbClr val="FFFFFF"/>
                          </a:solidFill>
                          <a:latin typeface="Inter Bold"/>
                          <a:ea typeface="Inter Bold"/>
                          <a:cs typeface="Inter Bold"/>
                          <a:sym typeface="Inter Bold"/>
                        </a:rPr>
                        <a:t>Requirement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E293B"/>
                    </a:solidFill>
                  </a:tcPr>
                </a:tc>
                <a:tc>
                  <a:txBody>
                    <a:bodyPr/>
                    <a:lstStyle/>
                    <a:p>
                      <a:pPr algn="ctr">
                        <a:lnSpc>
                          <a:spcPts val="2279"/>
                        </a:lnSpc>
                        <a:defRPr/>
                      </a:pPr>
                      <a:r>
                        <a:rPr lang="en-US" sz="1899" b="1">
                          <a:solidFill>
                            <a:srgbClr val="FFFFFF"/>
                          </a:solidFill>
                          <a:latin typeface="Inter Bold"/>
                          <a:ea typeface="Inter Bold"/>
                          <a:cs typeface="Inter Bold"/>
                          <a:sym typeface="Inter Bold"/>
                        </a:rPr>
                        <a:t>Implementation Logic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E293B"/>
                    </a:solidFill>
                  </a:tcPr>
                </a:tc>
                <a:tc>
                  <a:txBody>
                    <a:bodyPr/>
                    <a:lstStyle/>
                    <a:p>
                      <a:pPr algn="ctr">
                        <a:lnSpc>
                          <a:spcPts val="2279"/>
                        </a:lnSpc>
                        <a:defRPr/>
                      </a:pPr>
                      <a:r>
                        <a:rPr lang="en-US" sz="1899" b="1">
                          <a:solidFill>
                            <a:srgbClr val="FFFFFF"/>
                          </a:solidFill>
                          <a:latin typeface="Inter Bold"/>
                          <a:ea typeface="Inter Bold"/>
                          <a:cs typeface="Inter Bold"/>
                          <a:sym typeface="Inter Bold"/>
                        </a:rPr>
                        <a:t>Validation Check</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857250">
                <a:tc>
                  <a:txBody>
                    <a:bodyPr/>
                    <a:lstStyle/>
                    <a:p>
                      <a:pPr algn="ctr">
                        <a:lnSpc>
                          <a:spcPts val="2279"/>
                        </a:lnSpc>
                        <a:defRPr/>
                      </a:pPr>
                      <a:r>
                        <a:rPr lang="en-US" sz="1899" b="1">
                          <a:solidFill>
                            <a:srgbClr val="334155"/>
                          </a:solidFill>
                          <a:latin typeface="Inter Bold"/>
                          <a:ea typeface="Inter Bold"/>
                          <a:cs typeface="Inter Bold"/>
                          <a:sym typeface="Inter Bold"/>
                        </a:rPr>
                        <a:t>Borrow Book</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279"/>
                        </a:lnSpc>
                        <a:defRPr/>
                      </a:pPr>
                      <a:r>
                        <a:rPr lang="en-US" sz="1899">
                          <a:solidFill>
                            <a:srgbClr val="334155"/>
                          </a:solidFill>
                          <a:latin typeface="Inter"/>
                          <a:ea typeface="Inter"/>
                          <a:cs typeface="Inter"/>
                          <a:sym typeface="Inter"/>
                        </a:rPr>
                        <a:t>Check ID availability and update Book/User records.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279"/>
                        </a:lnSpc>
                        <a:defRPr/>
                      </a:pPr>
                      <a:r>
                        <a:rPr lang="en-US" sz="1899">
                          <a:solidFill>
                            <a:srgbClr val="334155"/>
                          </a:solidFill>
                          <a:latin typeface="Inter"/>
                          <a:ea typeface="Inter"/>
                          <a:cs typeface="Inter"/>
                          <a:sym typeface="Inter"/>
                        </a:rPr>
                        <a:t>book.get_availability() == True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857250">
                <a:tc>
                  <a:txBody>
                    <a:bodyPr/>
                    <a:lstStyle/>
                    <a:p>
                      <a:pPr algn="ctr">
                        <a:lnSpc>
                          <a:spcPts val="2279"/>
                        </a:lnSpc>
                        <a:defRPr/>
                      </a:pPr>
                      <a:r>
                        <a:rPr lang="en-US" sz="1899" b="1">
                          <a:solidFill>
                            <a:srgbClr val="334155"/>
                          </a:solidFill>
                          <a:latin typeface="Inter Bold"/>
                          <a:ea typeface="Inter Bold"/>
                          <a:cs typeface="Inter Bold"/>
                          <a:sym typeface="Inter Bold"/>
                        </a:rPr>
                        <a:t>Return Book</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279"/>
                        </a:lnSpc>
                        <a:defRPr/>
                      </a:pPr>
                      <a:r>
                        <a:rPr lang="en-US" sz="1899">
                          <a:solidFill>
                            <a:srgbClr val="334155"/>
                          </a:solidFill>
                          <a:latin typeface="Inter"/>
                          <a:ea typeface="Inter"/>
                          <a:cs typeface="Inter"/>
                          <a:sym typeface="Inter"/>
                        </a:rPr>
                        <a:t>Restore availability and append to history tuple.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279"/>
                        </a:lnSpc>
                        <a:defRPr/>
                      </a:pPr>
                      <a:r>
                        <a:rPr lang="en-US" sz="1899">
                          <a:solidFill>
                            <a:srgbClr val="334155"/>
                          </a:solidFill>
                          <a:latin typeface="Inter"/>
                          <a:ea typeface="Inter"/>
                          <a:cs typeface="Inter"/>
                          <a:sym typeface="Inter"/>
                        </a:rPr>
                        <a:t>Verify ID in User's active set.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857250">
                <a:tc>
                  <a:txBody>
                    <a:bodyPr/>
                    <a:lstStyle/>
                    <a:p>
                      <a:pPr algn="ctr">
                        <a:lnSpc>
                          <a:spcPts val="2279"/>
                        </a:lnSpc>
                        <a:defRPr/>
                      </a:pPr>
                      <a:r>
                        <a:rPr lang="en-US" sz="1899" b="1">
                          <a:solidFill>
                            <a:srgbClr val="334155"/>
                          </a:solidFill>
                          <a:latin typeface="Inter Bold"/>
                          <a:ea typeface="Inter Bold"/>
                          <a:cs typeface="Inter Bold"/>
                          <a:sym typeface="Inter Bold"/>
                        </a:rPr>
                        <a:t>History Tracking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279"/>
                        </a:lnSpc>
                        <a:defRPr/>
                      </a:pPr>
                      <a:r>
                        <a:rPr lang="en-US" sz="1899">
                          <a:solidFill>
                            <a:srgbClr val="334155"/>
                          </a:solidFill>
                          <a:latin typeface="Inter"/>
                          <a:ea typeface="Inter"/>
                          <a:cs typeface="Inter"/>
                          <a:sym typeface="Inter"/>
                        </a:rPr>
                        <a:t>Maintain immutable tuples of past transactions.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279"/>
                        </a:lnSpc>
                        <a:defRPr/>
                      </a:pPr>
                      <a:r>
                        <a:rPr lang="en-US" sz="1899">
                          <a:solidFill>
                            <a:srgbClr val="334155"/>
                          </a:solidFill>
                          <a:latin typeface="Inter"/>
                          <a:ea typeface="Inter"/>
                          <a:cs typeface="Inter"/>
                          <a:sym typeface="Inter"/>
                        </a:rPr>
                        <a:t>Prevents data tampering.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bl>
          </a:graphicData>
        </a:graphic>
      </p:graphicFrame>
      <p:grpSp>
        <p:nvGrpSpPr>
          <p:cNvPr id="6" name="Group 6"/>
          <p:cNvGrpSpPr/>
          <p:nvPr/>
        </p:nvGrpSpPr>
        <p:grpSpPr>
          <a:xfrm>
            <a:off x="2067759" y="2069020"/>
            <a:ext cx="14152482" cy="3158109"/>
            <a:chOff x="0" y="0"/>
            <a:chExt cx="18869975" cy="4210812"/>
          </a:xfrm>
        </p:grpSpPr>
        <p:grpSp>
          <p:nvGrpSpPr>
            <p:cNvPr id="7" name="Group 7"/>
            <p:cNvGrpSpPr/>
            <p:nvPr/>
          </p:nvGrpSpPr>
          <p:grpSpPr>
            <a:xfrm>
              <a:off x="0" y="0"/>
              <a:ext cx="18869975" cy="4210812"/>
              <a:chOff x="0" y="0"/>
              <a:chExt cx="18869975" cy="4210812"/>
            </a:xfrm>
          </p:grpSpPr>
          <p:sp>
            <p:nvSpPr>
              <p:cNvPr id="8" name="Freeform 8" descr="image.png"/>
              <p:cNvSpPr/>
              <p:nvPr/>
            </p:nvSpPr>
            <p:spPr>
              <a:xfrm>
                <a:off x="0" y="0"/>
                <a:ext cx="18869975" cy="4210800"/>
              </a:xfrm>
              <a:custGeom>
                <a:avLst/>
                <a:gdLst/>
                <a:ahLst/>
                <a:cxnLst/>
                <a:rect l="l" t="t" r="r" b="b"/>
                <a:pathLst>
                  <a:path w="18869975" h="4210800">
                    <a:moveTo>
                      <a:pt x="358993" y="0"/>
                    </a:moveTo>
                    <a:lnTo>
                      <a:pt x="18510983" y="0"/>
                    </a:lnTo>
                    <a:cubicBezTo>
                      <a:pt x="18709249" y="0"/>
                      <a:pt x="18869975" y="160726"/>
                      <a:pt x="18869975" y="358993"/>
                    </a:cubicBezTo>
                    <a:lnTo>
                      <a:pt x="18869975" y="3851807"/>
                    </a:lnTo>
                    <a:cubicBezTo>
                      <a:pt x="18869975" y="4050073"/>
                      <a:pt x="18709249" y="4210800"/>
                      <a:pt x="18510983" y="4210800"/>
                    </a:cubicBezTo>
                    <a:lnTo>
                      <a:pt x="358993" y="4210800"/>
                    </a:lnTo>
                    <a:cubicBezTo>
                      <a:pt x="160726" y="4210800"/>
                      <a:pt x="0" y="4050073"/>
                      <a:pt x="0" y="3851807"/>
                    </a:cubicBezTo>
                    <a:lnTo>
                      <a:pt x="0" y="358993"/>
                    </a:lnTo>
                    <a:cubicBezTo>
                      <a:pt x="0" y="160726"/>
                      <a:pt x="160726" y="0"/>
                      <a:pt x="358993" y="0"/>
                    </a:cubicBezTo>
                    <a:close/>
                  </a:path>
                </a:pathLst>
              </a:custGeom>
              <a:blipFill>
                <a:blip r:embed="rId3"/>
                <a:stretch>
                  <a:fillRect t="-39463" b="-40589"/>
                </a:stretch>
              </a:blipFill>
            </p:spPr>
            <p:txBody>
              <a:bodyPr/>
              <a:lstStyle/>
              <a:p>
                <a:endParaRPr lang="ru-KZ"/>
              </a:p>
            </p:txBody>
          </p:sp>
        </p:grpSp>
        <p:grpSp>
          <p:nvGrpSpPr>
            <p:cNvPr id="9" name="Group 9"/>
            <p:cNvGrpSpPr/>
            <p:nvPr/>
          </p:nvGrpSpPr>
          <p:grpSpPr>
            <a:xfrm>
              <a:off x="1010892" y="437975"/>
              <a:ext cx="458743" cy="597075"/>
              <a:chOff x="0" y="0"/>
              <a:chExt cx="458743" cy="597075"/>
            </a:xfrm>
          </p:grpSpPr>
          <p:sp>
            <p:nvSpPr>
              <p:cNvPr id="10" name="Freeform 10" descr="image.png"/>
              <p:cNvSpPr/>
              <p:nvPr/>
            </p:nvSpPr>
            <p:spPr>
              <a:xfrm>
                <a:off x="0" y="0"/>
                <a:ext cx="458743" cy="597075"/>
              </a:xfrm>
              <a:custGeom>
                <a:avLst/>
                <a:gdLst/>
                <a:ahLst/>
                <a:cxnLst/>
                <a:rect l="l" t="t" r="r" b="b"/>
                <a:pathLst>
                  <a:path w="458743" h="597075">
                    <a:moveTo>
                      <a:pt x="229371" y="0"/>
                    </a:moveTo>
                    <a:lnTo>
                      <a:pt x="229371" y="0"/>
                    </a:lnTo>
                    <a:cubicBezTo>
                      <a:pt x="356050" y="0"/>
                      <a:pt x="458743" y="102693"/>
                      <a:pt x="458743" y="229371"/>
                    </a:cubicBezTo>
                    <a:lnTo>
                      <a:pt x="458743" y="367704"/>
                    </a:lnTo>
                    <a:cubicBezTo>
                      <a:pt x="458743" y="494382"/>
                      <a:pt x="356050" y="597075"/>
                      <a:pt x="229371" y="597075"/>
                    </a:cubicBezTo>
                    <a:lnTo>
                      <a:pt x="229371" y="597075"/>
                    </a:lnTo>
                    <a:cubicBezTo>
                      <a:pt x="102693" y="597075"/>
                      <a:pt x="0" y="494382"/>
                      <a:pt x="0" y="367704"/>
                    </a:cubicBezTo>
                    <a:lnTo>
                      <a:pt x="0" y="229371"/>
                    </a:lnTo>
                    <a:cubicBezTo>
                      <a:pt x="0" y="102693"/>
                      <a:pt x="102693" y="0"/>
                      <a:pt x="229371" y="0"/>
                    </a:cubicBezTo>
                    <a:close/>
                  </a:path>
                </a:pathLst>
              </a:custGeom>
              <a:blipFill>
                <a:blip r:embed="rId4"/>
                <a:stretch>
                  <a:fillRect l="-8104" r="-8104" b="-3571"/>
                </a:stretch>
              </a:blipFill>
            </p:spPr>
            <p:txBody>
              <a:bodyPr/>
              <a:lstStyle/>
              <a:p>
                <a:endParaRPr lang="ru-KZ"/>
              </a:p>
            </p:txBody>
          </p:sp>
        </p:grpSp>
        <p:sp>
          <p:nvSpPr>
            <p:cNvPr id="11" name="TextBox 11"/>
            <p:cNvSpPr txBox="1"/>
            <p:nvPr/>
          </p:nvSpPr>
          <p:spPr>
            <a:xfrm>
              <a:off x="1010892" y="1381125"/>
              <a:ext cx="17690602" cy="428625"/>
            </a:xfrm>
            <a:prstGeom prst="rect">
              <a:avLst/>
            </a:prstGeom>
          </p:spPr>
          <p:txBody>
            <a:bodyPr lIns="0" tIns="0" rIns="0" bIns="0" rtlCol="0" anchor="t">
              <a:spAutoFit/>
            </a:bodyPr>
            <a:lstStyle/>
            <a:p>
              <a:pPr algn="l">
                <a:lnSpc>
                  <a:spcPts val="2527"/>
                </a:lnSpc>
              </a:pPr>
              <a:r>
                <a:rPr lang="en-US" sz="2106" b="1">
                  <a:solidFill>
                    <a:srgbClr val="1E293B"/>
                  </a:solidFill>
                  <a:latin typeface="Arimo Bold"/>
                  <a:ea typeface="Arimo Bold"/>
                  <a:cs typeface="Arimo Bold"/>
                  <a:sym typeface="Arimo Bold"/>
                </a:rPr>
                <a:t>Iterators &amp; Generators</a:t>
              </a:r>
            </a:p>
          </p:txBody>
        </p:sp>
        <p:sp>
          <p:nvSpPr>
            <p:cNvPr id="12" name="TextBox 12"/>
            <p:cNvSpPr txBox="1"/>
            <p:nvPr/>
          </p:nvSpPr>
          <p:spPr>
            <a:xfrm>
              <a:off x="1010892" y="2028825"/>
              <a:ext cx="16848192" cy="543687"/>
            </a:xfrm>
            <a:prstGeom prst="rect">
              <a:avLst/>
            </a:prstGeom>
          </p:spPr>
          <p:txBody>
            <a:bodyPr lIns="0" tIns="0" rIns="0" bIns="0" rtlCol="0" anchor="t">
              <a:spAutoFit/>
            </a:bodyPr>
            <a:lstStyle/>
            <a:p>
              <a:pPr algn="l">
                <a:lnSpc>
                  <a:spcPts val="3887"/>
                </a:lnSpc>
              </a:pPr>
              <a:r>
                <a:rPr lang="en-US" sz="2025">
                  <a:solidFill>
                    <a:srgbClr val="475569"/>
                  </a:solidFill>
                  <a:latin typeface="Inter"/>
                  <a:ea typeface="Inter"/>
                  <a:cs typeface="Inter"/>
                  <a:sym typeface="Inter"/>
                </a:rPr>
                <a:t>Implemented yield in catalog rendering to minimize memory footprint when displaying available books.</a:t>
              </a:r>
            </a:p>
          </p:txBody>
        </p:sp>
      </p:grpSp>
      <p:sp>
        <p:nvSpPr>
          <p:cNvPr id="13" name="TextBox 13"/>
          <p:cNvSpPr txBox="1"/>
          <p:nvPr/>
        </p:nvSpPr>
        <p:spPr>
          <a:xfrm>
            <a:off x="5028381" y="9525000"/>
            <a:ext cx="9602019" cy="443484"/>
          </a:xfrm>
          <a:prstGeom prst="rect">
            <a:avLst/>
          </a:prstGeom>
        </p:spPr>
        <p:txBody>
          <a:bodyPr wrap="square" lIns="0" tIns="0" rIns="0" bIns="0" rtlCol="0" anchor="t">
            <a:spAutoFit/>
          </a:bodyPr>
          <a:lstStyle/>
          <a:p>
            <a:pPr marL="0" lvl="0" indent="0" algn="ctr">
              <a:lnSpc>
                <a:spcPts val="3887"/>
              </a:lnSpc>
              <a:spcBef>
                <a:spcPct val="0"/>
              </a:spcBef>
            </a:pPr>
            <a:r>
              <a:rPr lang="en-US" sz="2025" i="1" u="none" strike="noStrike" dirty="0">
                <a:solidFill>
                  <a:srgbClr val="475569"/>
                </a:solidFill>
                <a:latin typeface="Inter Italics"/>
                <a:ea typeface="Inter Italics"/>
                <a:cs typeface="Inter Italics"/>
                <a:sym typeface="Inter Italics"/>
              </a:rPr>
              <a:t>Logic by </a:t>
            </a:r>
            <a:r>
              <a:rPr lang="en-US" sz="2025" i="1" u="none" strike="noStrike" dirty="0" err="1">
                <a:solidFill>
                  <a:srgbClr val="475569"/>
                </a:solidFill>
                <a:latin typeface="Inter Italics"/>
                <a:ea typeface="Inter Italics"/>
                <a:cs typeface="Inter Italics"/>
                <a:sym typeface="Inter Italics"/>
              </a:rPr>
              <a:t>Amirlan</a:t>
            </a:r>
            <a:r>
              <a:rPr lang="en-US" sz="2025" i="1" u="none" strike="noStrike" dirty="0">
                <a:solidFill>
                  <a:srgbClr val="475569"/>
                </a:solidFill>
                <a:latin typeface="Inter Italics"/>
                <a:ea typeface="Inter Italics"/>
                <a:cs typeface="Inter Italics"/>
                <a:sym typeface="Inter Italics"/>
              </a:rPr>
              <a:t> Kuan : Using listed features and implementing logic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ru-KZ"/>
            </a:p>
          </p:txBody>
        </p:sp>
      </p:grpSp>
      <p:grpSp>
        <p:nvGrpSpPr>
          <p:cNvPr id="4" name="Group 4"/>
          <p:cNvGrpSpPr/>
          <p:nvPr/>
        </p:nvGrpSpPr>
        <p:grpSpPr>
          <a:xfrm>
            <a:off x="11029950" y="4793456"/>
            <a:ext cx="6400800" cy="1914525"/>
            <a:chOff x="0" y="0"/>
            <a:chExt cx="8534400" cy="2552700"/>
          </a:xfrm>
        </p:grpSpPr>
        <p:sp>
          <p:nvSpPr>
            <p:cNvPr id="5" name="Freeform 5" descr="image.png"/>
            <p:cNvSpPr/>
            <p:nvPr/>
          </p:nvSpPr>
          <p:spPr>
            <a:xfrm>
              <a:off x="0" y="0"/>
              <a:ext cx="8534400" cy="2552700"/>
            </a:xfrm>
            <a:custGeom>
              <a:avLst/>
              <a:gdLst/>
              <a:ahLst/>
              <a:cxnLst/>
              <a:rect l="l" t="t" r="r" b="b"/>
              <a:pathLst>
                <a:path w="8534400" h="2552700">
                  <a:moveTo>
                    <a:pt x="0" y="0"/>
                  </a:moveTo>
                  <a:lnTo>
                    <a:pt x="8534400" y="0"/>
                  </a:lnTo>
                  <a:lnTo>
                    <a:pt x="8534400" y="2552700"/>
                  </a:lnTo>
                  <a:lnTo>
                    <a:pt x="0" y="2552700"/>
                  </a:lnTo>
                  <a:lnTo>
                    <a:pt x="0" y="0"/>
                  </a:lnTo>
                  <a:close/>
                </a:path>
              </a:pathLst>
            </a:custGeom>
            <a:blipFill>
              <a:blip r:embed="rId4"/>
              <a:stretch>
                <a:fillRect b="-746"/>
              </a:stretch>
            </a:blipFill>
          </p:spPr>
          <p:txBody>
            <a:bodyPr/>
            <a:lstStyle/>
            <a:p>
              <a:endParaRPr lang="ru-KZ"/>
            </a:p>
          </p:txBody>
        </p:sp>
      </p:grpSp>
      <p:sp>
        <p:nvSpPr>
          <p:cNvPr id="6" name="TextBox 6"/>
          <p:cNvSpPr txBox="1"/>
          <p:nvPr/>
        </p:nvSpPr>
        <p:spPr>
          <a:xfrm>
            <a:off x="1143000" y="838200"/>
            <a:ext cx="11144250" cy="628650"/>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INTERFACE &amp; TRANSACTION DECORATORS</a:t>
            </a:r>
          </a:p>
        </p:txBody>
      </p:sp>
      <p:grpSp>
        <p:nvGrpSpPr>
          <p:cNvPr id="7" name="Group 7"/>
          <p:cNvGrpSpPr/>
          <p:nvPr/>
        </p:nvGrpSpPr>
        <p:grpSpPr>
          <a:xfrm>
            <a:off x="857250" y="857250"/>
            <a:ext cx="85725" cy="642938"/>
            <a:chOff x="0" y="0"/>
            <a:chExt cx="114300" cy="857250"/>
          </a:xfrm>
        </p:grpSpPr>
        <p:sp>
          <p:nvSpPr>
            <p:cNvPr id="8" name="Freeform 8"/>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sp>
        <p:nvSpPr>
          <p:cNvPr id="9" name="TextBox 9"/>
          <p:cNvSpPr txBox="1"/>
          <p:nvPr/>
        </p:nvSpPr>
        <p:spPr>
          <a:xfrm>
            <a:off x="857249" y="3854937"/>
            <a:ext cx="6677025" cy="320601"/>
          </a:xfrm>
          <a:prstGeom prst="rect">
            <a:avLst/>
          </a:prstGeom>
        </p:spPr>
        <p:txBody>
          <a:bodyPr wrap="square" lIns="0" tIns="0" rIns="0" bIns="0" rtlCol="0" anchor="t">
            <a:spAutoFit/>
          </a:bodyPr>
          <a:lstStyle/>
          <a:p>
            <a:pPr algn="l">
              <a:lnSpc>
                <a:spcPts val="2527"/>
              </a:lnSpc>
            </a:pPr>
            <a:r>
              <a:rPr lang="en-US" sz="2106" b="1" dirty="0">
                <a:solidFill>
                  <a:srgbClr val="1E293B"/>
                </a:solidFill>
                <a:latin typeface="Arimo Bold"/>
                <a:ea typeface="Arimo Bold"/>
                <a:cs typeface="Arimo Bold"/>
                <a:sym typeface="Arimo Bold"/>
              </a:rPr>
              <a:t>Mansur </a:t>
            </a:r>
            <a:r>
              <a:rPr lang="en-US" sz="2106" b="1" dirty="0" err="1">
                <a:solidFill>
                  <a:srgbClr val="1E293B"/>
                </a:solidFill>
                <a:latin typeface="Arimo Bold"/>
                <a:ea typeface="Arimo Bold"/>
                <a:cs typeface="Arimo Bold"/>
                <a:sym typeface="Arimo Bold"/>
              </a:rPr>
              <a:t>Saginbek</a:t>
            </a:r>
            <a:r>
              <a:rPr lang="en-US" sz="2106" b="1" dirty="0">
                <a:solidFill>
                  <a:srgbClr val="1E293B"/>
                </a:solidFill>
                <a:latin typeface="Arimo Bold"/>
                <a:ea typeface="Arimo Bold"/>
                <a:cs typeface="Arimo Bold"/>
                <a:sym typeface="Arimo Bold"/>
              </a:rPr>
              <a:t> : UI &amp; Observability</a:t>
            </a:r>
          </a:p>
        </p:txBody>
      </p:sp>
      <p:sp>
        <p:nvSpPr>
          <p:cNvPr id="10" name="TextBox 10"/>
          <p:cNvSpPr txBox="1"/>
          <p:nvPr/>
        </p:nvSpPr>
        <p:spPr>
          <a:xfrm>
            <a:off x="857250" y="4209231"/>
            <a:ext cx="9601200" cy="929259"/>
          </a:xfrm>
          <a:prstGeom prst="rect">
            <a:avLst/>
          </a:prstGeom>
        </p:spPr>
        <p:txBody>
          <a:bodyPr lIns="0" tIns="0" rIns="0" bIns="0" rtlCol="0" anchor="t">
            <a:spAutoFit/>
          </a:bodyPr>
          <a:lstStyle/>
          <a:p>
            <a:pPr algn="l">
              <a:lnSpc>
                <a:spcPts val="3887"/>
              </a:lnSpc>
            </a:pPr>
            <a:r>
              <a:rPr lang="en-US" sz="2025">
                <a:solidFill>
                  <a:srgbClr val="475569"/>
                </a:solidFill>
                <a:latin typeface="Inter"/>
                <a:ea typeface="Inter"/>
                <a:cs typeface="Inter"/>
                <a:sym typeface="Inter"/>
              </a:rPr>
              <a:t>The main.py loop provides an intuitive terminal interface for users, wrapped with systemic monitoring.</a:t>
            </a:r>
          </a:p>
        </p:txBody>
      </p:sp>
      <p:sp>
        <p:nvSpPr>
          <p:cNvPr id="11" name="TextBox 11"/>
          <p:cNvSpPr txBox="1"/>
          <p:nvPr/>
        </p:nvSpPr>
        <p:spPr>
          <a:xfrm>
            <a:off x="11387138" y="5045869"/>
            <a:ext cx="5686425" cy="404813"/>
          </a:xfrm>
          <a:prstGeom prst="rect">
            <a:avLst/>
          </a:prstGeom>
        </p:spPr>
        <p:txBody>
          <a:bodyPr lIns="0" tIns="0" rIns="0" bIns="0" rtlCol="0" anchor="t">
            <a:spAutoFit/>
          </a:bodyPr>
          <a:lstStyle/>
          <a:p>
            <a:pPr algn="l">
              <a:lnSpc>
                <a:spcPts val="2835"/>
              </a:lnSpc>
            </a:pPr>
            <a:r>
              <a:rPr lang="en-US" sz="1575">
                <a:solidFill>
                  <a:srgbClr val="38BDF8"/>
                </a:solidFill>
                <a:latin typeface="Courier New"/>
                <a:ea typeface="Courier New"/>
                <a:cs typeface="Courier New"/>
                <a:sym typeface="Courier New"/>
              </a:rPr>
              <a:t>[SYSTEM] Borrowing ID: 101</a:t>
            </a:r>
          </a:p>
        </p:txBody>
      </p:sp>
      <p:sp>
        <p:nvSpPr>
          <p:cNvPr id="12" name="TextBox 12"/>
          <p:cNvSpPr txBox="1"/>
          <p:nvPr/>
        </p:nvSpPr>
        <p:spPr>
          <a:xfrm>
            <a:off x="11387138" y="5345906"/>
            <a:ext cx="5686425" cy="404813"/>
          </a:xfrm>
          <a:prstGeom prst="rect">
            <a:avLst/>
          </a:prstGeom>
        </p:spPr>
        <p:txBody>
          <a:bodyPr lIns="0" tIns="0" rIns="0" bIns="0" rtlCol="0" anchor="t">
            <a:spAutoFit/>
          </a:bodyPr>
          <a:lstStyle/>
          <a:p>
            <a:pPr algn="l">
              <a:lnSpc>
                <a:spcPts val="2835"/>
              </a:lnSpc>
            </a:pPr>
            <a:r>
              <a:rPr lang="en-US" sz="1575">
                <a:solidFill>
                  <a:srgbClr val="38BDF8"/>
                </a:solidFill>
                <a:latin typeface="Courier New"/>
                <a:ea typeface="Courier New"/>
                <a:cs typeface="Courier New"/>
                <a:sym typeface="Courier New"/>
              </a:rPr>
              <a:t>[LOG] Time: 10:15 AM</a:t>
            </a:r>
          </a:p>
        </p:txBody>
      </p:sp>
      <p:sp>
        <p:nvSpPr>
          <p:cNvPr id="13" name="TextBox 13"/>
          <p:cNvSpPr txBox="1"/>
          <p:nvPr/>
        </p:nvSpPr>
        <p:spPr>
          <a:xfrm>
            <a:off x="11387138" y="5645944"/>
            <a:ext cx="5686425" cy="404813"/>
          </a:xfrm>
          <a:prstGeom prst="rect">
            <a:avLst/>
          </a:prstGeom>
        </p:spPr>
        <p:txBody>
          <a:bodyPr lIns="0" tIns="0" rIns="0" bIns="0" rtlCol="0" anchor="t">
            <a:spAutoFit/>
          </a:bodyPr>
          <a:lstStyle/>
          <a:p>
            <a:pPr algn="l">
              <a:lnSpc>
                <a:spcPts val="2835"/>
              </a:lnSpc>
            </a:pPr>
            <a:r>
              <a:rPr lang="en-US" sz="1575">
                <a:solidFill>
                  <a:srgbClr val="38BDF8"/>
                </a:solidFill>
                <a:latin typeface="Courier New"/>
                <a:ea typeface="Courier New"/>
                <a:cs typeface="Courier New"/>
                <a:sym typeface="Courier New"/>
              </a:rPr>
              <a:t>[INFO] Transaction Successful.</a:t>
            </a:r>
          </a:p>
        </p:txBody>
      </p:sp>
      <p:sp>
        <p:nvSpPr>
          <p:cNvPr id="14" name="TextBox 14"/>
          <p:cNvSpPr txBox="1"/>
          <p:nvPr/>
        </p:nvSpPr>
        <p:spPr>
          <a:xfrm>
            <a:off x="11387138" y="5945981"/>
            <a:ext cx="5686425" cy="404813"/>
          </a:xfrm>
          <a:prstGeom prst="rect">
            <a:avLst/>
          </a:prstGeom>
        </p:spPr>
        <p:txBody>
          <a:bodyPr lIns="0" tIns="0" rIns="0" bIns="0" rtlCol="0" anchor="t">
            <a:spAutoFit/>
          </a:bodyPr>
          <a:lstStyle/>
          <a:p>
            <a:pPr algn="l">
              <a:lnSpc>
                <a:spcPts val="2835"/>
              </a:lnSpc>
            </a:pPr>
            <a:r>
              <a:rPr lang="en-US" sz="1575">
                <a:solidFill>
                  <a:srgbClr val="4ADE80"/>
                </a:solidFill>
                <a:latin typeface="Courier New"/>
                <a:ea typeface="Courier New"/>
                <a:cs typeface="Courier New"/>
                <a:sym typeface="Courier New"/>
              </a:rPr>
              <a:t>Inventory Updated.</a:t>
            </a:r>
          </a:p>
        </p:txBody>
      </p:sp>
      <p:sp>
        <p:nvSpPr>
          <p:cNvPr id="15" name="TextBox 15"/>
          <p:cNvSpPr txBox="1"/>
          <p:nvPr/>
        </p:nvSpPr>
        <p:spPr>
          <a:xfrm>
            <a:off x="1357312" y="5289280"/>
            <a:ext cx="9101138" cy="965749"/>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@log_transaction:</a:t>
            </a:r>
            <a:r>
              <a:rPr lang="en-US" sz="2025">
                <a:solidFill>
                  <a:srgbClr val="475569"/>
                </a:solidFill>
                <a:latin typeface="Inter"/>
                <a:ea typeface="Inter"/>
                <a:cs typeface="Inter"/>
                <a:sym typeface="Inter"/>
              </a:rPr>
              <a:t> A decorator that timestamps each borrow event automatically.</a:t>
            </a:r>
          </a:p>
        </p:txBody>
      </p:sp>
      <p:sp>
        <p:nvSpPr>
          <p:cNvPr id="16" name="TextBox 16"/>
          <p:cNvSpPr txBox="1"/>
          <p:nvPr/>
        </p:nvSpPr>
        <p:spPr>
          <a:xfrm>
            <a:off x="1357312" y="6326457"/>
            <a:ext cx="9101138" cy="443484"/>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Main Loop:</a:t>
            </a:r>
            <a:r>
              <a:rPr lang="en-US" sz="2025">
                <a:solidFill>
                  <a:srgbClr val="475569"/>
                </a:solidFill>
                <a:latin typeface="Inter"/>
                <a:ea typeface="Inter"/>
                <a:cs typeface="Inter"/>
                <a:sym typeface="Inter"/>
              </a:rPr>
              <a:t> Robust while True structure with safe exit paths.</a:t>
            </a:r>
          </a:p>
        </p:txBody>
      </p:sp>
      <p:sp>
        <p:nvSpPr>
          <p:cNvPr id="17" name="TextBox 17"/>
          <p:cNvSpPr txBox="1"/>
          <p:nvPr/>
        </p:nvSpPr>
        <p:spPr>
          <a:xfrm>
            <a:off x="1357312" y="6952212"/>
            <a:ext cx="9101138" cy="443484"/>
          </a:xfrm>
          <a:prstGeom prst="rect">
            <a:avLst/>
          </a:prstGeom>
        </p:spPr>
        <p:txBody>
          <a:bodyPr lIns="0" tIns="0" rIns="0" bIns="0" rtlCol="0" anchor="t">
            <a:spAutoFit/>
          </a:bodyPr>
          <a:lstStyle/>
          <a:p>
            <a:pPr algn="l">
              <a:lnSpc>
                <a:spcPts val="3887"/>
              </a:lnSpc>
            </a:pPr>
            <a:r>
              <a:rPr lang="en-US" sz="2025" b="1">
                <a:solidFill>
                  <a:srgbClr val="475569"/>
                </a:solidFill>
                <a:latin typeface="Inter Bold"/>
                <a:ea typeface="Inter Bold"/>
                <a:cs typeface="Inter Bold"/>
                <a:sym typeface="Inter Bold"/>
              </a:rPr>
              <a:t>Integrated Workflows:</a:t>
            </a:r>
            <a:r>
              <a:rPr lang="en-US" sz="2025">
                <a:solidFill>
                  <a:srgbClr val="475569"/>
                </a:solidFill>
                <a:latin typeface="Inter"/>
                <a:ea typeface="Inter"/>
                <a:cs typeface="Inter"/>
                <a:sym typeface="Inter"/>
              </a:rPr>
              <a:t> Seamlessly bridges Models and Services.</a:t>
            </a:r>
          </a:p>
        </p:txBody>
      </p:sp>
      <p:grpSp>
        <p:nvGrpSpPr>
          <p:cNvPr id="18" name="Group 18"/>
          <p:cNvGrpSpPr/>
          <p:nvPr/>
        </p:nvGrpSpPr>
        <p:grpSpPr>
          <a:xfrm>
            <a:off x="857250" y="5460730"/>
            <a:ext cx="228600" cy="271462"/>
            <a:chOff x="0" y="0"/>
            <a:chExt cx="304800" cy="361950"/>
          </a:xfrm>
        </p:grpSpPr>
        <p:sp>
          <p:nvSpPr>
            <p:cNvPr id="19" name="Freeform 19"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grpSp>
        <p:nvGrpSpPr>
          <p:cNvPr id="20" name="Group 20"/>
          <p:cNvGrpSpPr/>
          <p:nvPr/>
        </p:nvGrpSpPr>
        <p:grpSpPr>
          <a:xfrm>
            <a:off x="857250" y="6497907"/>
            <a:ext cx="228600" cy="271462"/>
            <a:chOff x="0" y="0"/>
            <a:chExt cx="304800" cy="361950"/>
          </a:xfrm>
        </p:grpSpPr>
        <p:sp>
          <p:nvSpPr>
            <p:cNvPr id="21" name="Freeform 21"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grpSp>
        <p:nvGrpSpPr>
          <p:cNvPr id="22" name="Group 22"/>
          <p:cNvGrpSpPr/>
          <p:nvPr/>
        </p:nvGrpSpPr>
        <p:grpSpPr>
          <a:xfrm>
            <a:off x="857250" y="7123662"/>
            <a:ext cx="228600" cy="271462"/>
            <a:chOff x="0" y="0"/>
            <a:chExt cx="304800" cy="361950"/>
          </a:xfrm>
        </p:grpSpPr>
        <p:sp>
          <p:nvSpPr>
            <p:cNvPr id="23" name="Freeform 23" descr="image.png"/>
            <p:cNvSpPr/>
            <p:nvPr/>
          </p:nvSpPr>
          <p:spPr>
            <a:xfrm>
              <a:off x="0" y="0"/>
              <a:ext cx="304800" cy="361950"/>
            </a:xfrm>
            <a:custGeom>
              <a:avLst/>
              <a:gdLst/>
              <a:ahLst/>
              <a:cxnLst/>
              <a:rect l="l" t="t" r="r" b="b"/>
              <a:pathLst>
                <a:path w="304800" h="361950">
                  <a:moveTo>
                    <a:pt x="0" y="0"/>
                  </a:moveTo>
                  <a:lnTo>
                    <a:pt x="304800" y="0"/>
                  </a:lnTo>
                  <a:lnTo>
                    <a:pt x="304800" y="361950"/>
                  </a:lnTo>
                  <a:lnTo>
                    <a:pt x="0" y="361950"/>
                  </a:lnTo>
                  <a:lnTo>
                    <a:pt x="0" y="0"/>
                  </a:lnTo>
                  <a:close/>
                </a:path>
              </a:pathLst>
            </a:custGeom>
            <a:blipFill>
              <a:blip r:embed="rId5"/>
              <a:stretch>
                <a:fillRect/>
              </a:stretch>
            </a:blipFill>
          </p:spPr>
          <p:txBody>
            <a:bodyPr/>
            <a:lstStyle/>
            <a:p>
              <a:endParaRPr lang="ru-KZ"/>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7250" y="857250"/>
            <a:ext cx="85725" cy="642938"/>
            <a:chOff x="0" y="0"/>
            <a:chExt cx="114300" cy="857250"/>
          </a:xfrm>
        </p:grpSpPr>
        <p:sp>
          <p:nvSpPr>
            <p:cNvPr id="3" name="Freeform 3"/>
            <p:cNvSpPr/>
            <p:nvPr/>
          </p:nvSpPr>
          <p:spPr>
            <a:xfrm>
              <a:off x="0" y="0"/>
              <a:ext cx="114300" cy="857250"/>
            </a:xfrm>
            <a:custGeom>
              <a:avLst/>
              <a:gdLst/>
              <a:ahLst/>
              <a:cxnLst/>
              <a:rect l="l" t="t" r="r" b="b"/>
              <a:pathLst>
                <a:path w="114300" h="857250">
                  <a:moveTo>
                    <a:pt x="0" y="0"/>
                  </a:moveTo>
                  <a:lnTo>
                    <a:pt x="114300" y="0"/>
                  </a:lnTo>
                  <a:lnTo>
                    <a:pt x="114300" y="857250"/>
                  </a:lnTo>
                  <a:lnTo>
                    <a:pt x="0" y="857250"/>
                  </a:lnTo>
                  <a:close/>
                </a:path>
              </a:pathLst>
            </a:custGeom>
            <a:solidFill>
              <a:srgbClr val="2563EB"/>
            </a:solidFill>
          </p:spPr>
          <p:txBody>
            <a:bodyPr/>
            <a:lstStyle/>
            <a:p>
              <a:endParaRPr lang="ru-KZ"/>
            </a:p>
          </p:txBody>
        </p:sp>
      </p:grpSp>
      <p:grpSp>
        <p:nvGrpSpPr>
          <p:cNvPr id="4" name="Group 4"/>
          <p:cNvGrpSpPr/>
          <p:nvPr/>
        </p:nvGrpSpPr>
        <p:grpSpPr>
          <a:xfrm>
            <a:off x="789101" y="4385345"/>
            <a:ext cx="3777991" cy="1373789"/>
            <a:chOff x="0" y="0"/>
            <a:chExt cx="5037322" cy="1831719"/>
          </a:xfrm>
        </p:grpSpPr>
        <p:sp>
          <p:nvSpPr>
            <p:cNvPr id="5" name="TextBox 5"/>
            <p:cNvSpPr txBox="1"/>
            <p:nvPr/>
          </p:nvSpPr>
          <p:spPr>
            <a:xfrm>
              <a:off x="88002" y="1401136"/>
              <a:ext cx="4861319" cy="430583"/>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Load JSON files into Dictionaries</a:t>
              </a:r>
            </a:p>
          </p:txBody>
        </p:sp>
        <p:grpSp>
          <p:nvGrpSpPr>
            <p:cNvPr id="6" name="Group 6"/>
            <p:cNvGrpSpPr/>
            <p:nvPr/>
          </p:nvGrpSpPr>
          <p:grpSpPr>
            <a:xfrm>
              <a:off x="0" y="0"/>
              <a:ext cx="5037322" cy="1404705"/>
              <a:chOff x="0" y="0"/>
              <a:chExt cx="5037322" cy="1404705"/>
            </a:xfrm>
          </p:grpSpPr>
          <p:sp>
            <p:nvSpPr>
              <p:cNvPr id="7" name="Freeform 7" descr="image.png"/>
              <p:cNvSpPr/>
              <p:nvPr/>
            </p:nvSpPr>
            <p:spPr>
              <a:xfrm>
                <a:off x="0" y="0"/>
                <a:ext cx="5037322" cy="1404705"/>
              </a:xfrm>
              <a:custGeom>
                <a:avLst/>
                <a:gdLst/>
                <a:ahLst/>
                <a:cxnLst/>
                <a:rect l="l" t="t" r="r" b="b"/>
                <a:pathLst>
                  <a:path w="5037322" h="1404705">
                    <a:moveTo>
                      <a:pt x="645503" y="0"/>
                    </a:moveTo>
                    <a:lnTo>
                      <a:pt x="4391819" y="0"/>
                    </a:lnTo>
                    <a:cubicBezTo>
                      <a:pt x="4748321" y="0"/>
                      <a:pt x="5037322" y="289002"/>
                      <a:pt x="5037322" y="645503"/>
                    </a:cubicBezTo>
                    <a:lnTo>
                      <a:pt x="5037322" y="759202"/>
                    </a:lnTo>
                    <a:cubicBezTo>
                      <a:pt x="5037322" y="1115703"/>
                      <a:pt x="4748321" y="1404705"/>
                      <a:pt x="4391819" y="1404705"/>
                    </a:cubicBezTo>
                    <a:lnTo>
                      <a:pt x="645503" y="1404705"/>
                    </a:lnTo>
                    <a:cubicBezTo>
                      <a:pt x="289002" y="1404705"/>
                      <a:pt x="0" y="1115703"/>
                      <a:pt x="0" y="759202"/>
                    </a:cubicBezTo>
                    <a:lnTo>
                      <a:pt x="0" y="645503"/>
                    </a:lnTo>
                    <a:cubicBezTo>
                      <a:pt x="0" y="289002"/>
                      <a:pt x="289002" y="0"/>
                      <a:pt x="645503" y="0"/>
                    </a:cubicBezTo>
                    <a:close/>
                  </a:path>
                </a:pathLst>
              </a:custGeom>
              <a:solidFill>
                <a:srgbClr val="2563EB"/>
              </a:solidFill>
            </p:spPr>
            <p:txBody>
              <a:bodyPr/>
              <a:lstStyle/>
              <a:p>
                <a:endParaRPr lang="ru-KZ"/>
              </a:p>
            </p:txBody>
          </p:sp>
        </p:grpSp>
        <p:sp>
          <p:nvSpPr>
            <p:cNvPr id="8" name="TextBox 8"/>
            <p:cNvSpPr txBox="1"/>
            <p:nvPr/>
          </p:nvSpPr>
          <p:spPr>
            <a:xfrm>
              <a:off x="1549907" y="483277"/>
              <a:ext cx="1937506" cy="428625"/>
            </a:xfrm>
            <a:prstGeom prst="rect">
              <a:avLst/>
            </a:prstGeom>
          </p:spPr>
          <p:txBody>
            <a:bodyPr wrap="square" lIns="0" tIns="0" rIns="0" bIns="0" rtlCol="0" anchor="t">
              <a:spAutoFit/>
            </a:bodyPr>
            <a:lstStyle/>
            <a:p>
              <a:pPr algn="ctr">
                <a:lnSpc>
                  <a:spcPts val="2527"/>
                </a:lnSpc>
                <a:spcBef>
                  <a:spcPct val="0"/>
                </a:spcBef>
              </a:pPr>
              <a:r>
                <a:rPr lang="en-US" sz="2106" b="1" dirty="0">
                  <a:solidFill>
                    <a:srgbClr val="F8FAFC"/>
                  </a:solidFill>
                  <a:latin typeface="Arimo Bold"/>
                  <a:ea typeface="Arimo Bold"/>
                  <a:cs typeface="Arimo Bold"/>
                  <a:sym typeface="Arimo Bold"/>
                </a:rPr>
                <a:t>Initialize</a:t>
              </a:r>
            </a:p>
          </p:txBody>
        </p:sp>
      </p:grpSp>
      <p:grpSp>
        <p:nvGrpSpPr>
          <p:cNvPr id="9" name="Group 9"/>
          <p:cNvGrpSpPr/>
          <p:nvPr/>
        </p:nvGrpSpPr>
        <p:grpSpPr>
          <a:xfrm>
            <a:off x="5100492" y="4385345"/>
            <a:ext cx="3777991" cy="1456484"/>
            <a:chOff x="0" y="0"/>
            <a:chExt cx="5037322" cy="1941978"/>
          </a:xfrm>
        </p:grpSpPr>
        <p:sp>
          <p:nvSpPr>
            <p:cNvPr id="10" name="TextBox 10"/>
            <p:cNvSpPr txBox="1"/>
            <p:nvPr/>
          </p:nvSpPr>
          <p:spPr>
            <a:xfrm>
              <a:off x="88002" y="1401136"/>
              <a:ext cx="4861319" cy="540842"/>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CLI Menu: View, Borrow, or Return</a:t>
              </a:r>
            </a:p>
          </p:txBody>
        </p:sp>
        <p:grpSp>
          <p:nvGrpSpPr>
            <p:cNvPr id="11" name="Group 11"/>
            <p:cNvGrpSpPr/>
            <p:nvPr/>
          </p:nvGrpSpPr>
          <p:grpSpPr>
            <a:xfrm>
              <a:off x="0" y="0"/>
              <a:ext cx="5037322" cy="1404705"/>
              <a:chOff x="0" y="0"/>
              <a:chExt cx="5037322" cy="1404705"/>
            </a:xfrm>
          </p:grpSpPr>
          <p:sp>
            <p:nvSpPr>
              <p:cNvPr id="12" name="Freeform 12" descr="image.png"/>
              <p:cNvSpPr/>
              <p:nvPr/>
            </p:nvSpPr>
            <p:spPr>
              <a:xfrm>
                <a:off x="0" y="0"/>
                <a:ext cx="5037322" cy="1404705"/>
              </a:xfrm>
              <a:custGeom>
                <a:avLst/>
                <a:gdLst/>
                <a:ahLst/>
                <a:cxnLst/>
                <a:rect l="l" t="t" r="r" b="b"/>
                <a:pathLst>
                  <a:path w="5037322" h="1404705">
                    <a:moveTo>
                      <a:pt x="645503" y="0"/>
                    </a:moveTo>
                    <a:lnTo>
                      <a:pt x="4391819" y="0"/>
                    </a:lnTo>
                    <a:cubicBezTo>
                      <a:pt x="4748321" y="0"/>
                      <a:pt x="5037322" y="289002"/>
                      <a:pt x="5037322" y="645503"/>
                    </a:cubicBezTo>
                    <a:lnTo>
                      <a:pt x="5037322" y="759202"/>
                    </a:lnTo>
                    <a:cubicBezTo>
                      <a:pt x="5037322" y="1115703"/>
                      <a:pt x="4748321" y="1404705"/>
                      <a:pt x="4391819" y="1404705"/>
                    </a:cubicBezTo>
                    <a:lnTo>
                      <a:pt x="645503" y="1404705"/>
                    </a:lnTo>
                    <a:cubicBezTo>
                      <a:pt x="289002" y="1404705"/>
                      <a:pt x="0" y="1115703"/>
                      <a:pt x="0" y="759202"/>
                    </a:cubicBezTo>
                    <a:lnTo>
                      <a:pt x="0" y="645503"/>
                    </a:lnTo>
                    <a:cubicBezTo>
                      <a:pt x="0" y="289002"/>
                      <a:pt x="289002" y="0"/>
                      <a:pt x="645503" y="0"/>
                    </a:cubicBezTo>
                    <a:close/>
                  </a:path>
                </a:pathLst>
              </a:custGeom>
              <a:solidFill>
                <a:srgbClr val="1E293B"/>
              </a:solidFill>
            </p:spPr>
            <p:txBody>
              <a:bodyPr/>
              <a:lstStyle/>
              <a:p>
                <a:endParaRPr lang="ru-KZ"/>
              </a:p>
            </p:txBody>
          </p:sp>
        </p:grpSp>
        <p:sp>
          <p:nvSpPr>
            <p:cNvPr id="13" name="TextBox 13"/>
            <p:cNvSpPr txBox="1"/>
            <p:nvPr/>
          </p:nvSpPr>
          <p:spPr>
            <a:xfrm>
              <a:off x="581134" y="483277"/>
              <a:ext cx="3875054" cy="428625"/>
            </a:xfrm>
            <a:prstGeom prst="rect">
              <a:avLst/>
            </a:prstGeom>
          </p:spPr>
          <p:txBody>
            <a:bodyPr lIns="0" tIns="0" rIns="0" bIns="0" rtlCol="0" anchor="t">
              <a:spAutoFit/>
            </a:bodyPr>
            <a:lstStyle/>
            <a:p>
              <a:pPr algn="ctr">
                <a:lnSpc>
                  <a:spcPts val="2527"/>
                </a:lnSpc>
                <a:spcBef>
                  <a:spcPct val="0"/>
                </a:spcBef>
              </a:pPr>
              <a:r>
                <a:rPr lang="en-US" sz="2106" b="1">
                  <a:solidFill>
                    <a:srgbClr val="F8FAFC"/>
                  </a:solidFill>
                  <a:latin typeface="Arimo Bold"/>
                  <a:ea typeface="Arimo Bold"/>
                  <a:cs typeface="Arimo Bold"/>
                  <a:sym typeface="Arimo Bold"/>
                </a:rPr>
                <a:t>User Action</a:t>
              </a:r>
            </a:p>
          </p:txBody>
        </p:sp>
      </p:grpSp>
      <p:grpSp>
        <p:nvGrpSpPr>
          <p:cNvPr id="14" name="Group 14"/>
          <p:cNvGrpSpPr/>
          <p:nvPr/>
        </p:nvGrpSpPr>
        <p:grpSpPr>
          <a:xfrm>
            <a:off x="9411884" y="4385345"/>
            <a:ext cx="3777991" cy="1516310"/>
            <a:chOff x="0" y="0"/>
            <a:chExt cx="5037322" cy="2021747"/>
          </a:xfrm>
        </p:grpSpPr>
        <p:sp>
          <p:nvSpPr>
            <p:cNvPr id="15" name="TextBox 15"/>
            <p:cNvSpPr txBox="1"/>
            <p:nvPr/>
          </p:nvSpPr>
          <p:spPr>
            <a:xfrm>
              <a:off x="88002" y="1480905"/>
              <a:ext cx="4861319" cy="540842"/>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Check constraints via Library Service</a:t>
              </a:r>
            </a:p>
          </p:txBody>
        </p:sp>
        <p:grpSp>
          <p:nvGrpSpPr>
            <p:cNvPr id="16" name="Group 16"/>
            <p:cNvGrpSpPr/>
            <p:nvPr/>
          </p:nvGrpSpPr>
          <p:grpSpPr>
            <a:xfrm>
              <a:off x="0" y="0"/>
              <a:ext cx="5037322" cy="1404705"/>
              <a:chOff x="0" y="0"/>
              <a:chExt cx="5037322" cy="1404705"/>
            </a:xfrm>
          </p:grpSpPr>
          <p:sp>
            <p:nvSpPr>
              <p:cNvPr id="17" name="Freeform 17" descr="image.png"/>
              <p:cNvSpPr/>
              <p:nvPr/>
            </p:nvSpPr>
            <p:spPr>
              <a:xfrm>
                <a:off x="0" y="0"/>
                <a:ext cx="5037322" cy="1404705"/>
              </a:xfrm>
              <a:custGeom>
                <a:avLst/>
                <a:gdLst/>
                <a:ahLst/>
                <a:cxnLst/>
                <a:rect l="l" t="t" r="r" b="b"/>
                <a:pathLst>
                  <a:path w="5037322" h="1404705">
                    <a:moveTo>
                      <a:pt x="645503" y="0"/>
                    </a:moveTo>
                    <a:lnTo>
                      <a:pt x="4391819" y="0"/>
                    </a:lnTo>
                    <a:cubicBezTo>
                      <a:pt x="4748321" y="0"/>
                      <a:pt x="5037322" y="289002"/>
                      <a:pt x="5037322" y="645503"/>
                    </a:cubicBezTo>
                    <a:lnTo>
                      <a:pt x="5037322" y="759202"/>
                    </a:lnTo>
                    <a:cubicBezTo>
                      <a:pt x="5037322" y="1115703"/>
                      <a:pt x="4748321" y="1404705"/>
                      <a:pt x="4391819" y="1404705"/>
                    </a:cubicBezTo>
                    <a:lnTo>
                      <a:pt x="645503" y="1404705"/>
                    </a:lnTo>
                    <a:cubicBezTo>
                      <a:pt x="289002" y="1404705"/>
                      <a:pt x="0" y="1115703"/>
                      <a:pt x="0" y="759202"/>
                    </a:cubicBezTo>
                    <a:lnTo>
                      <a:pt x="0" y="645503"/>
                    </a:lnTo>
                    <a:cubicBezTo>
                      <a:pt x="0" y="289002"/>
                      <a:pt x="289002" y="0"/>
                      <a:pt x="645503" y="0"/>
                    </a:cubicBezTo>
                    <a:close/>
                  </a:path>
                </a:pathLst>
              </a:custGeom>
              <a:solidFill>
                <a:srgbClr val="0CC0DF"/>
              </a:solidFill>
            </p:spPr>
            <p:txBody>
              <a:bodyPr/>
              <a:lstStyle/>
              <a:p>
                <a:endParaRPr lang="ru-KZ"/>
              </a:p>
            </p:txBody>
          </p:sp>
        </p:grpSp>
        <p:sp>
          <p:nvSpPr>
            <p:cNvPr id="18" name="TextBox 18"/>
            <p:cNvSpPr txBox="1"/>
            <p:nvPr/>
          </p:nvSpPr>
          <p:spPr>
            <a:xfrm>
              <a:off x="581134" y="483277"/>
              <a:ext cx="3875054" cy="428625"/>
            </a:xfrm>
            <a:prstGeom prst="rect">
              <a:avLst/>
            </a:prstGeom>
          </p:spPr>
          <p:txBody>
            <a:bodyPr lIns="0" tIns="0" rIns="0" bIns="0" rtlCol="0" anchor="t">
              <a:spAutoFit/>
            </a:bodyPr>
            <a:lstStyle/>
            <a:p>
              <a:pPr algn="ctr">
                <a:lnSpc>
                  <a:spcPts val="2527"/>
                </a:lnSpc>
                <a:spcBef>
                  <a:spcPct val="0"/>
                </a:spcBef>
              </a:pPr>
              <a:r>
                <a:rPr lang="en-US" sz="2106" b="1">
                  <a:solidFill>
                    <a:srgbClr val="F8FAFC"/>
                  </a:solidFill>
                  <a:latin typeface="Arimo Bold"/>
                  <a:ea typeface="Arimo Bold"/>
                  <a:cs typeface="Arimo Bold"/>
                  <a:sym typeface="Arimo Bold"/>
                </a:rPr>
                <a:t>Validate</a:t>
              </a:r>
            </a:p>
          </p:txBody>
        </p:sp>
      </p:grpSp>
      <p:grpSp>
        <p:nvGrpSpPr>
          <p:cNvPr id="19" name="Group 19"/>
          <p:cNvGrpSpPr/>
          <p:nvPr/>
        </p:nvGrpSpPr>
        <p:grpSpPr>
          <a:xfrm>
            <a:off x="13720908" y="4385345"/>
            <a:ext cx="3777991" cy="1516310"/>
            <a:chOff x="0" y="0"/>
            <a:chExt cx="5037322" cy="2021747"/>
          </a:xfrm>
        </p:grpSpPr>
        <p:sp>
          <p:nvSpPr>
            <p:cNvPr id="20" name="TextBox 20"/>
            <p:cNvSpPr txBox="1"/>
            <p:nvPr/>
          </p:nvSpPr>
          <p:spPr>
            <a:xfrm>
              <a:off x="88002" y="1480905"/>
              <a:ext cx="4861319" cy="540842"/>
            </a:xfrm>
            <a:prstGeom prst="rect">
              <a:avLst/>
            </a:prstGeom>
          </p:spPr>
          <p:txBody>
            <a:bodyPr lIns="0" tIns="0" rIns="0" bIns="0" rtlCol="0" anchor="t">
              <a:spAutoFit/>
            </a:bodyPr>
            <a:lstStyle/>
            <a:p>
              <a:pPr algn="ctr">
                <a:lnSpc>
                  <a:spcPts val="3022"/>
                </a:lnSpc>
              </a:pPr>
              <a:r>
                <a:rPr lang="en-US" sz="1575">
                  <a:solidFill>
                    <a:srgbClr val="475569"/>
                  </a:solidFill>
                  <a:latin typeface="Inter"/>
                  <a:ea typeface="Inter"/>
                  <a:cs typeface="Inter"/>
                  <a:sym typeface="Inter"/>
                </a:rPr>
                <a:t>Update state and save back to JSON</a:t>
              </a:r>
            </a:p>
          </p:txBody>
        </p:sp>
        <p:grpSp>
          <p:nvGrpSpPr>
            <p:cNvPr id="21" name="Group 21"/>
            <p:cNvGrpSpPr/>
            <p:nvPr/>
          </p:nvGrpSpPr>
          <p:grpSpPr>
            <a:xfrm>
              <a:off x="0" y="0"/>
              <a:ext cx="5037322" cy="1404705"/>
              <a:chOff x="0" y="0"/>
              <a:chExt cx="5037322" cy="1404705"/>
            </a:xfrm>
          </p:grpSpPr>
          <p:sp>
            <p:nvSpPr>
              <p:cNvPr id="22" name="Freeform 22" descr="image.png"/>
              <p:cNvSpPr/>
              <p:nvPr/>
            </p:nvSpPr>
            <p:spPr>
              <a:xfrm>
                <a:off x="0" y="0"/>
                <a:ext cx="5037322" cy="1404705"/>
              </a:xfrm>
              <a:custGeom>
                <a:avLst/>
                <a:gdLst/>
                <a:ahLst/>
                <a:cxnLst/>
                <a:rect l="l" t="t" r="r" b="b"/>
                <a:pathLst>
                  <a:path w="5037322" h="1404705">
                    <a:moveTo>
                      <a:pt x="645503" y="0"/>
                    </a:moveTo>
                    <a:lnTo>
                      <a:pt x="4391819" y="0"/>
                    </a:lnTo>
                    <a:cubicBezTo>
                      <a:pt x="4748321" y="0"/>
                      <a:pt x="5037322" y="289002"/>
                      <a:pt x="5037322" y="645503"/>
                    </a:cubicBezTo>
                    <a:lnTo>
                      <a:pt x="5037322" y="759202"/>
                    </a:lnTo>
                    <a:cubicBezTo>
                      <a:pt x="5037322" y="1115703"/>
                      <a:pt x="4748321" y="1404705"/>
                      <a:pt x="4391819" y="1404705"/>
                    </a:cubicBezTo>
                    <a:lnTo>
                      <a:pt x="645503" y="1404705"/>
                    </a:lnTo>
                    <a:cubicBezTo>
                      <a:pt x="289002" y="1404705"/>
                      <a:pt x="0" y="1115703"/>
                      <a:pt x="0" y="759202"/>
                    </a:cubicBezTo>
                    <a:lnTo>
                      <a:pt x="0" y="645503"/>
                    </a:lnTo>
                    <a:cubicBezTo>
                      <a:pt x="0" y="289002"/>
                      <a:pt x="289002" y="0"/>
                      <a:pt x="645503" y="0"/>
                    </a:cubicBezTo>
                    <a:close/>
                  </a:path>
                </a:pathLst>
              </a:custGeom>
              <a:solidFill>
                <a:srgbClr val="4ADE80"/>
              </a:solidFill>
            </p:spPr>
            <p:txBody>
              <a:bodyPr/>
              <a:lstStyle/>
              <a:p>
                <a:endParaRPr lang="ru-KZ"/>
              </a:p>
            </p:txBody>
          </p:sp>
        </p:grpSp>
        <p:sp>
          <p:nvSpPr>
            <p:cNvPr id="23" name="TextBox 23"/>
            <p:cNvSpPr txBox="1"/>
            <p:nvPr/>
          </p:nvSpPr>
          <p:spPr>
            <a:xfrm>
              <a:off x="581134" y="483277"/>
              <a:ext cx="3875054" cy="428625"/>
            </a:xfrm>
            <a:prstGeom prst="rect">
              <a:avLst/>
            </a:prstGeom>
          </p:spPr>
          <p:txBody>
            <a:bodyPr lIns="0" tIns="0" rIns="0" bIns="0" rtlCol="0" anchor="t">
              <a:spAutoFit/>
            </a:bodyPr>
            <a:lstStyle/>
            <a:p>
              <a:pPr algn="ctr">
                <a:lnSpc>
                  <a:spcPts val="2527"/>
                </a:lnSpc>
                <a:spcBef>
                  <a:spcPct val="0"/>
                </a:spcBef>
              </a:pPr>
              <a:r>
                <a:rPr lang="en-US" sz="2106" b="1">
                  <a:solidFill>
                    <a:srgbClr val="F8FAFC"/>
                  </a:solidFill>
                  <a:latin typeface="Arimo Bold"/>
                  <a:ea typeface="Arimo Bold"/>
                  <a:cs typeface="Arimo Bold"/>
                  <a:sym typeface="Arimo Bold"/>
                </a:rPr>
                <a:t>Finalize</a:t>
              </a:r>
            </a:p>
          </p:txBody>
        </p:sp>
      </p:grpSp>
      <p:sp>
        <p:nvSpPr>
          <p:cNvPr id="24" name="Freeform 24"/>
          <p:cNvSpPr/>
          <p:nvPr/>
        </p:nvSpPr>
        <p:spPr>
          <a:xfrm rot="224511">
            <a:off x="4057676" y="3709837"/>
            <a:ext cx="1640106" cy="936774"/>
          </a:xfrm>
          <a:custGeom>
            <a:avLst/>
            <a:gdLst/>
            <a:ahLst/>
            <a:cxnLst/>
            <a:rect l="l" t="t" r="r" b="b"/>
            <a:pathLst>
              <a:path w="1640106" h="936774">
                <a:moveTo>
                  <a:pt x="0" y="0"/>
                </a:moveTo>
                <a:lnTo>
                  <a:pt x="1640106" y="0"/>
                </a:lnTo>
                <a:lnTo>
                  <a:pt x="1640106" y="936775"/>
                </a:lnTo>
                <a:lnTo>
                  <a:pt x="0" y="936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ru-KZ"/>
          </a:p>
        </p:txBody>
      </p:sp>
      <p:sp>
        <p:nvSpPr>
          <p:cNvPr id="25" name="TextBox 25"/>
          <p:cNvSpPr txBox="1"/>
          <p:nvPr/>
        </p:nvSpPr>
        <p:spPr>
          <a:xfrm>
            <a:off x="1143000" y="838200"/>
            <a:ext cx="17102138" cy="661988"/>
          </a:xfrm>
          <a:prstGeom prst="rect">
            <a:avLst/>
          </a:prstGeom>
        </p:spPr>
        <p:txBody>
          <a:bodyPr lIns="0" tIns="0" rIns="0" bIns="0" rtlCol="0" anchor="t">
            <a:spAutoFit/>
          </a:bodyPr>
          <a:lstStyle/>
          <a:p>
            <a:pPr algn="l">
              <a:lnSpc>
                <a:spcPts val="4860"/>
              </a:lnSpc>
            </a:pPr>
            <a:r>
              <a:rPr lang="en-US" sz="4050" b="1">
                <a:solidFill>
                  <a:srgbClr val="0F172A"/>
                </a:solidFill>
                <a:latin typeface="Arimo Bold"/>
                <a:ea typeface="Arimo Bold"/>
                <a:cs typeface="Arimo Bold"/>
                <a:sym typeface="Arimo Bold"/>
              </a:rPr>
              <a:t>APPLICATION OPERATIONAL WORKFLOW</a:t>
            </a:r>
          </a:p>
        </p:txBody>
      </p:sp>
      <p:sp>
        <p:nvSpPr>
          <p:cNvPr id="26" name="Freeform 26"/>
          <p:cNvSpPr/>
          <p:nvPr/>
        </p:nvSpPr>
        <p:spPr>
          <a:xfrm rot="224511">
            <a:off x="8591830" y="3709837"/>
            <a:ext cx="1640106" cy="936774"/>
          </a:xfrm>
          <a:custGeom>
            <a:avLst/>
            <a:gdLst/>
            <a:ahLst/>
            <a:cxnLst/>
            <a:rect l="l" t="t" r="r" b="b"/>
            <a:pathLst>
              <a:path w="1640106" h="936774">
                <a:moveTo>
                  <a:pt x="0" y="0"/>
                </a:moveTo>
                <a:lnTo>
                  <a:pt x="1640107" y="0"/>
                </a:lnTo>
                <a:lnTo>
                  <a:pt x="1640107" y="936775"/>
                </a:lnTo>
                <a:lnTo>
                  <a:pt x="0" y="936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ru-KZ"/>
          </a:p>
        </p:txBody>
      </p:sp>
      <p:sp>
        <p:nvSpPr>
          <p:cNvPr id="27" name="Freeform 27"/>
          <p:cNvSpPr/>
          <p:nvPr/>
        </p:nvSpPr>
        <p:spPr>
          <a:xfrm rot="224511">
            <a:off x="12900855" y="3709837"/>
            <a:ext cx="1640106" cy="936774"/>
          </a:xfrm>
          <a:custGeom>
            <a:avLst/>
            <a:gdLst/>
            <a:ahLst/>
            <a:cxnLst/>
            <a:rect l="l" t="t" r="r" b="b"/>
            <a:pathLst>
              <a:path w="1640106" h="936774">
                <a:moveTo>
                  <a:pt x="0" y="0"/>
                </a:moveTo>
                <a:lnTo>
                  <a:pt x="1640106" y="0"/>
                </a:lnTo>
                <a:lnTo>
                  <a:pt x="1640106" y="936775"/>
                </a:lnTo>
                <a:lnTo>
                  <a:pt x="0" y="936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ru-KZ"/>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722</Words>
  <Application>Microsoft Macintosh PowerPoint</Application>
  <PresentationFormat>Произвольный</PresentationFormat>
  <Paragraphs>113</Paragraphs>
  <Slides>9</Slides>
  <Notes>9</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9</vt:i4>
      </vt:variant>
    </vt:vector>
  </HeadingPairs>
  <TitlesOfParts>
    <vt:vector size="18" baseType="lpstr">
      <vt:lpstr>Inter Italics</vt:lpstr>
      <vt:lpstr>Calibri</vt:lpstr>
      <vt:lpstr>Inter</vt:lpstr>
      <vt:lpstr>Courier New</vt:lpstr>
      <vt:lpstr>Inter Bold</vt:lpstr>
      <vt:lpstr>Arimo Bold</vt:lpstr>
      <vt:lpstr>Lora Italics</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 Defense.pptx</dc:title>
  <cp:lastModifiedBy>Olzhas Assemgazy</cp:lastModifiedBy>
  <cp:revision>2</cp:revision>
  <dcterms:created xsi:type="dcterms:W3CDTF">2006-08-16T00:00:00Z</dcterms:created>
  <dcterms:modified xsi:type="dcterms:W3CDTF">2026-05-26T09:17:56Z</dcterms:modified>
  <dc:identifier>DAHKTL6PpSY</dc:identifier>
</cp:coreProperties>
</file>